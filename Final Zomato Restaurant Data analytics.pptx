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7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12.xml" ContentType="application/vnd.openxmlformats-officedocument.presentationml.notesSl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notesSlides/notesSlide13.xml" ContentType="application/vnd.openxmlformats-officedocument.presentationml.notesSlid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4089" r:id="rId1"/>
  </p:sldMasterIdLst>
  <p:notesMasterIdLst>
    <p:notesMasterId r:id="rId22"/>
  </p:notesMasterIdLst>
  <p:sldIdLst>
    <p:sldId id="256" r:id="rId2"/>
    <p:sldId id="257" r:id="rId3"/>
    <p:sldId id="258" r:id="rId4"/>
    <p:sldId id="260" r:id="rId5"/>
    <p:sldId id="274" r:id="rId6"/>
    <p:sldId id="275" r:id="rId7"/>
    <p:sldId id="276" r:id="rId8"/>
    <p:sldId id="259" r:id="rId9"/>
    <p:sldId id="273" r:id="rId10"/>
    <p:sldId id="261" r:id="rId11"/>
    <p:sldId id="263" r:id="rId12"/>
    <p:sldId id="264" r:id="rId13"/>
    <p:sldId id="265" r:id="rId14"/>
    <p:sldId id="277" r:id="rId15"/>
    <p:sldId id="266" r:id="rId16"/>
    <p:sldId id="267" r:id="rId17"/>
    <p:sldId id="268" r:id="rId18"/>
    <p:sldId id="269" r:id="rId19"/>
    <p:sldId id="270" r:id="rId20"/>
    <p:sldId id="272" r:id="rId21"/>
  </p:sldIdLst>
  <p:sldSz cx="13716000" cy="10287000"/>
  <p:notesSz cx="6858000" cy="9144000"/>
  <p:embeddedFontLst>
    <p:embeddedFont>
      <p:font typeface="Algerian" panose="04020705040A02060702" pitchFamily="82" charset="0"/>
      <p:regular r:id="rId23"/>
    </p:embeddedFont>
    <p:embeddedFont>
      <p:font typeface="Arial Black" panose="020B0A04020102020204" pitchFamily="34" charset="0"/>
      <p:bold r:id="rId24"/>
    </p:embeddedFont>
    <p:embeddedFont>
      <p:font typeface="Garamond" panose="02020404030301010803" pitchFamily="18" charset="0"/>
      <p:regular r:id="rId25"/>
      <p:bold r:id="rId26"/>
      <p:italic r:id="rId27"/>
    </p:embeddedFont>
    <p:embeddedFont>
      <p:font typeface="Montserrat" panose="00000500000000000000" pitchFamily="2" charset="0"/>
      <p:regular r:id="rId28"/>
      <p:bold r:id="rId29"/>
      <p:italic r:id="rId30"/>
      <p:boldItalic r:id="rId31"/>
    </p:embeddedFont>
    <p:embeddedFont>
      <p:font typeface="Montserrat Black" panose="00000A00000000000000" pitchFamily="2" charset="0"/>
      <p:bold r:id="rId32"/>
      <p:boldItalic r:id="rId33"/>
    </p:embeddedFont>
    <p:embeddedFont>
      <p:font typeface="Rockwell Extra Bold" panose="02060903040505020403" pitchFamily="18" charset="0"/>
      <p:bold r:id="rId3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ECEC"/>
    <a:srgbClr val="FFF6F6"/>
    <a:srgbClr val="F6CEC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4" d="100"/>
          <a:sy n="54" d="100"/>
        </p:scale>
        <p:origin x="1522" y="58"/>
      </p:cViewPr>
      <p:guideLst>
        <p:guide orient="horz" pos="216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21" Type="http://schemas.openxmlformats.org/officeDocument/2006/relationships/slide" Target="slides/slide20.xml"/><Relationship Id="rId34" Type="http://schemas.openxmlformats.org/officeDocument/2006/relationships/font" Target="fonts/font1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oleObject" Target="file:///C:\Users\Hi\Downloads\Final_Zomato_restaurants_data.xlsx" TargetMode="Externa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i\Downloads\Final_Zomato_restaurants_data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i\Downloads\Final_Zomato_restaurants_data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i\Downloads\Final_Zomato_restaurants_data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i\Downloads\Final_Zomato_restaurants_data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i\Downloads\Final_Zomato_restaurants_data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i\Downloads\Final_Zomato_restaurants_data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pivotSource>
    <c:name>[Final_Zomato_restaurants_data.xlsx]Descriptive Data!PivotTable1</c:name>
    <c:fmtId val="7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/>
              <a:t>Restaurants Opened vs Year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gradFill rotWithShape="1">
            <a:gsLst>
              <a:gs pos="0">
                <a:schemeClr val="accent5">
                  <a:shade val="51000"/>
                  <a:satMod val="130000"/>
                </a:schemeClr>
              </a:gs>
              <a:gs pos="80000">
                <a:schemeClr val="accent5">
                  <a:shade val="93000"/>
                  <a:satMod val="130000"/>
                </a:schemeClr>
              </a:gs>
              <a:gs pos="100000">
                <a:schemeClr val="accent5">
                  <a:shade val="94000"/>
                  <a:satMod val="135000"/>
                </a:schemeClr>
              </a:gs>
            </a:gsLst>
            <a:lin ang="16200000" scaled="0"/>
          </a:gradFill>
          <a:ln w="34925" cap="rnd">
            <a:solidFill>
              <a:schemeClr val="accent5"/>
            </a:solidFill>
            <a:rou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5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gradFill rotWithShape="1">
            <a:gsLst>
              <a:gs pos="0">
                <a:schemeClr val="accent5">
                  <a:shade val="51000"/>
                  <a:satMod val="130000"/>
                </a:schemeClr>
              </a:gs>
              <a:gs pos="80000">
                <a:schemeClr val="accent5">
                  <a:shade val="93000"/>
                  <a:satMod val="130000"/>
                </a:schemeClr>
              </a:gs>
              <a:gs pos="100000">
                <a:schemeClr val="accent5">
                  <a:shade val="94000"/>
                  <a:satMod val="135000"/>
                </a:schemeClr>
              </a:gs>
            </a:gsLst>
            <a:lin ang="16200000" scaled="0"/>
          </a:gradFill>
          <a:ln w="34925" cap="rnd">
            <a:solidFill>
              <a:schemeClr val="accent5"/>
            </a:solidFill>
            <a:rou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5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blipFill rotWithShape="1">
            <a:blip xmlns:r="http://schemas.openxmlformats.org/officeDocument/2006/relationships" r:embed="rId3">
              <a:duotone>
                <a:schemeClr val="accent5">
                  <a:shade val="74000"/>
                  <a:satMod val="130000"/>
                  <a:lumMod val="90000"/>
                </a:schemeClr>
                <a:schemeClr val="accent5">
                  <a:tint val="94000"/>
                  <a:satMod val="120000"/>
                  <a:lumMod val="104000"/>
                </a:schemeClr>
              </a:duotone>
            </a:blip>
            <a:tile tx="0" ty="0" sx="100000" sy="100000" flip="none" algn="tl"/>
          </a:blipFill>
          <a:ln w="34925" cap="rnd">
            <a:solidFill>
              <a:schemeClr val="accent5"/>
            </a:solidFill>
            <a:rou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5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14191056513966985"/>
          <c:y val="0.14761280174021091"/>
          <c:w val="0.82783908045510735"/>
          <c:h val="0.70817994259331751"/>
        </c:manualLayout>
      </c:layout>
      <c:lineChart>
        <c:grouping val="standard"/>
        <c:varyColors val="0"/>
        <c:ser>
          <c:idx val="0"/>
          <c:order val="0"/>
          <c:tx>
            <c:strRef>
              <c:f>'Descriptive Data'!$B$1</c:f>
              <c:strCache>
                <c:ptCount val="1"/>
                <c:pt idx="0">
                  <c:v>Total</c:v>
                </c:pt>
              </c:strCache>
            </c:strRef>
          </c:tx>
          <c:spPr>
            <a:ln w="34925" cap="rnd">
              <a:solidFill>
                <a:schemeClr val="accent5"/>
              </a:solidFill>
              <a:round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'Descriptive Data'!$A$2:$A$11</c:f>
              <c:strCache>
                <c:ptCount val="9"/>
                <c:pt idx="0">
                  <c:v>2010</c:v>
                </c:pt>
                <c:pt idx="1">
                  <c:v>2011</c:v>
                </c:pt>
                <c:pt idx="2">
                  <c:v>2012</c:v>
                </c:pt>
                <c:pt idx="3">
                  <c:v>2013</c:v>
                </c:pt>
                <c:pt idx="4">
                  <c:v>2014</c:v>
                </c:pt>
                <c:pt idx="5">
                  <c:v>2015</c:v>
                </c:pt>
                <c:pt idx="6">
                  <c:v>2016</c:v>
                </c:pt>
                <c:pt idx="7">
                  <c:v>2017</c:v>
                </c:pt>
                <c:pt idx="8">
                  <c:v>2018</c:v>
                </c:pt>
              </c:strCache>
            </c:strRef>
          </c:cat>
          <c:val>
            <c:numRef>
              <c:f>'Descriptive Data'!$B$2:$B$11</c:f>
              <c:numCache>
                <c:formatCode>General</c:formatCode>
                <c:ptCount val="9"/>
                <c:pt idx="0">
                  <c:v>1079</c:v>
                </c:pt>
                <c:pt idx="1">
                  <c:v>1096</c:v>
                </c:pt>
                <c:pt idx="2">
                  <c:v>1022</c:v>
                </c:pt>
                <c:pt idx="3">
                  <c:v>1059</c:v>
                </c:pt>
                <c:pt idx="4">
                  <c:v>1049</c:v>
                </c:pt>
                <c:pt idx="5">
                  <c:v>1023</c:v>
                </c:pt>
                <c:pt idx="6">
                  <c:v>1026</c:v>
                </c:pt>
                <c:pt idx="7">
                  <c:v>1086</c:v>
                </c:pt>
                <c:pt idx="8">
                  <c:v>1102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EB1-4266-8B98-C1E2E10C7F80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upDownBars>
          <c:gapWidth val="100"/>
          <c:upBars>
            <c:spPr>
              <a:solidFill>
                <a:schemeClr val="lt1"/>
              </a:solidFill>
              <a:ln w="9525">
                <a:solidFill>
                  <a:schemeClr val="tx1">
                    <a:lumMod val="15000"/>
                    <a:lumOff val="85000"/>
                  </a:schemeClr>
                </a:solidFill>
              </a:ln>
              <a:effectLst/>
            </c:spPr>
          </c:upBars>
          <c:downBars>
            <c:spPr>
              <a:solidFill>
                <a:schemeClr val="dk1">
                  <a:lumMod val="65000"/>
                  <a:lumOff val="35000"/>
                </a:schemeClr>
              </a:solidFill>
              <a:ln w="9525">
                <a:solidFill>
                  <a:schemeClr val="tx1">
                    <a:lumMod val="65000"/>
                    <a:lumOff val="35000"/>
                  </a:schemeClr>
                </a:solidFill>
              </a:ln>
              <a:effectLst/>
            </c:spPr>
          </c:downBars>
        </c:upDownBars>
        <c:smooth val="0"/>
        <c:axId val="1559100423"/>
        <c:axId val="2032956935"/>
      </c:lineChart>
      <c:catAx>
        <c:axId val="1559100423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5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YEAR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5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32956935"/>
        <c:crosses val="autoZero"/>
        <c:auto val="1"/>
        <c:lblAlgn val="ctr"/>
        <c:lblOffset val="100"/>
        <c:noMultiLvlLbl val="0"/>
      </c:catAx>
      <c:valAx>
        <c:axId val="20329569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5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COUNT OF RESTAURANT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5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5910042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bg1"/>
    </a:solidFill>
    <a:ln w="9525" cap="flat" cmpd="sng" algn="ctr">
      <a:noFill/>
      <a:round/>
    </a:ln>
    <a:effectLst>
      <a:outerShdw blurRad="63500" sx="102000" sy="102000" algn="ctr" rotWithShape="0">
        <a:prstClr val="black">
          <a:alpha val="40000"/>
        </a:prstClr>
      </a:outerShdw>
    </a:effectLst>
  </c:spPr>
  <c:txPr>
    <a:bodyPr/>
    <a:lstStyle/>
    <a:p>
      <a:pPr>
        <a:defRPr sz="1050" b="1"/>
      </a:pPr>
      <a:endParaRPr lang="en-US"/>
    </a:p>
  </c:txPr>
  <c:externalData r:id="rId4">
    <c:autoUpdate val="0"/>
  </c:externalData>
  <c:extLst>
    <c:ext xmlns:c14="http://schemas.microsoft.com/office/drawing/2007/8/2/chart" uri="{781A3756-C4B2-4CAC-9D66-4F8BD8637D16}">
      <c14:pivotOptions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pivotSource>
    <c:name>[Final_Zomato_restaurants_data.xlsx]Descriptive Data!PivotTable2</c:name>
    <c:fmtId val="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No. of Restaurants per Country</a:t>
            </a:r>
          </a:p>
        </c:rich>
      </c:tx>
      <c:layout>
        <c:manualLayout>
          <c:xMode val="edge"/>
          <c:yMode val="edge"/>
          <c:x val="0.30243890117133659"/>
          <c:y val="3.627078451326194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5">
                  <a:shade val="51000"/>
                  <a:satMod val="130000"/>
                </a:schemeClr>
              </a:gs>
              <a:gs pos="80000">
                <a:schemeClr val="accent5">
                  <a:shade val="93000"/>
                  <a:satMod val="130000"/>
                </a:schemeClr>
              </a:gs>
              <a:gs pos="100000">
                <a:schemeClr val="accent5">
                  <a:shade val="94000"/>
                  <a:satMod val="135000"/>
                </a:scheme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5">
                    <a:shade val="51000"/>
                    <a:satMod val="130000"/>
                  </a:schemeClr>
                </a:gs>
                <a:gs pos="80000">
                  <a:schemeClr val="accent5">
                    <a:shade val="93000"/>
                    <a:satMod val="130000"/>
                  </a:schemeClr>
                </a:gs>
                <a:gs pos="100000">
                  <a:schemeClr val="accent5">
                    <a:shade val="94000"/>
                    <a:satMod val="135000"/>
                  </a:schemeClr>
                </a:gs>
              </a:gsLst>
              <a:lin ang="16200000" scaled="0"/>
            </a:gradFill>
            <a:ln w="9525">
              <a:solidFill>
                <a:schemeClr val="accent5"/>
              </a:solidFill>
              <a:round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gradFill rotWithShape="1">
            <a:gsLst>
              <a:gs pos="0">
                <a:schemeClr val="accent5">
                  <a:shade val="51000"/>
                  <a:satMod val="130000"/>
                </a:schemeClr>
              </a:gs>
              <a:gs pos="80000">
                <a:schemeClr val="accent5">
                  <a:shade val="93000"/>
                  <a:satMod val="130000"/>
                </a:schemeClr>
              </a:gs>
              <a:gs pos="100000">
                <a:schemeClr val="accent5">
                  <a:shade val="94000"/>
                  <a:satMod val="135000"/>
                </a:scheme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gradFill rotWithShape="1">
            <a:gsLst>
              <a:gs pos="0">
                <a:schemeClr val="accent5">
                  <a:shade val="51000"/>
                  <a:satMod val="130000"/>
                </a:schemeClr>
              </a:gs>
              <a:gs pos="80000">
                <a:schemeClr val="accent5">
                  <a:shade val="93000"/>
                  <a:satMod val="130000"/>
                </a:schemeClr>
              </a:gs>
              <a:gs pos="100000">
                <a:schemeClr val="accent5">
                  <a:shade val="94000"/>
                  <a:satMod val="135000"/>
                </a:scheme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8.9205673093443308E-2"/>
          <c:y val="0.21021169009256085"/>
          <c:w val="0.85585495759117836"/>
          <c:h val="0.3910467609322400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'Descriptive Data'!$H$1</c:f>
              <c:strCache>
                <c:ptCount val="1"/>
                <c:pt idx="0">
                  <c:v>Total</c:v>
                </c:pt>
              </c:strCache>
            </c:strRef>
          </c:tx>
          <c:spPr>
            <a:gradFill>
              <a:gsLst>
                <a:gs pos="0">
                  <a:schemeClr val="accent5">
                    <a:shade val="51000"/>
                    <a:satMod val="130000"/>
                  </a:schemeClr>
                </a:gs>
                <a:gs pos="80000">
                  <a:schemeClr val="accent5">
                    <a:shade val="93000"/>
                    <a:satMod val="130000"/>
                  </a:schemeClr>
                </a:gs>
                <a:gs pos="100000">
                  <a:schemeClr val="accent5">
                    <a:shade val="94000"/>
                    <a:satMod val="135000"/>
                  </a:schemeClr>
                </a:gs>
              </a:gsLst>
              <a:lin ang="1620000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'Descriptive Data'!$G$2:$G$17</c:f>
              <c:strCache>
                <c:ptCount val="15"/>
                <c:pt idx="0">
                  <c:v>Australia</c:v>
                </c:pt>
                <c:pt idx="1">
                  <c:v>Brazil</c:v>
                </c:pt>
                <c:pt idx="2">
                  <c:v>Canada</c:v>
                </c:pt>
                <c:pt idx="3">
                  <c:v>India</c:v>
                </c:pt>
                <c:pt idx="4">
                  <c:v>Indonesia</c:v>
                </c:pt>
                <c:pt idx="5">
                  <c:v>New Zealand</c:v>
                </c:pt>
                <c:pt idx="6">
                  <c:v>Philippines</c:v>
                </c:pt>
                <c:pt idx="7">
                  <c:v>Qatar</c:v>
                </c:pt>
                <c:pt idx="8">
                  <c:v>Singapore</c:v>
                </c:pt>
                <c:pt idx="9">
                  <c:v>South Africa</c:v>
                </c:pt>
                <c:pt idx="10">
                  <c:v>Sri Lanka</c:v>
                </c:pt>
                <c:pt idx="11">
                  <c:v>Turkey</c:v>
                </c:pt>
                <c:pt idx="12">
                  <c:v>United Arab Emirates</c:v>
                </c:pt>
                <c:pt idx="13">
                  <c:v>United Kingdom</c:v>
                </c:pt>
                <c:pt idx="14">
                  <c:v>United States of America</c:v>
                </c:pt>
              </c:strCache>
            </c:strRef>
          </c:cat>
          <c:val>
            <c:numRef>
              <c:f>'Descriptive Data'!$H$2:$H$17</c:f>
              <c:numCache>
                <c:formatCode>General</c:formatCode>
                <c:ptCount val="15"/>
                <c:pt idx="0">
                  <c:v>24</c:v>
                </c:pt>
                <c:pt idx="1">
                  <c:v>60</c:v>
                </c:pt>
                <c:pt idx="2">
                  <c:v>4</c:v>
                </c:pt>
                <c:pt idx="3">
                  <c:v>8652</c:v>
                </c:pt>
                <c:pt idx="4">
                  <c:v>21</c:v>
                </c:pt>
                <c:pt idx="5">
                  <c:v>40</c:v>
                </c:pt>
                <c:pt idx="6">
                  <c:v>22</c:v>
                </c:pt>
                <c:pt idx="7">
                  <c:v>20</c:v>
                </c:pt>
                <c:pt idx="8">
                  <c:v>20</c:v>
                </c:pt>
                <c:pt idx="9">
                  <c:v>60</c:v>
                </c:pt>
                <c:pt idx="10">
                  <c:v>20</c:v>
                </c:pt>
                <c:pt idx="11">
                  <c:v>34</c:v>
                </c:pt>
                <c:pt idx="12">
                  <c:v>60</c:v>
                </c:pt>
                <c:pt idx="13">
                  <c:v>80</c:v>
                </c:pt>
                <c:pt idx="14">
                  <c:v>425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CDC-4DB0-A8BF-415CAFA451B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1387216047"/>
        <c:axId val="1387215215"/>
      </c:barChart>
      <c:catAx>
        <c:axId val="138721604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87215215"/>
        <c:crosses val="autoZero"/>
        <c:auto val="1"/>
        <c:lblAlgn val="ctr"/>
        <c:lblOffset val="100"/>
        <c:noMultiLvlLbl val="0"/>
      </c:catAx>
      <c:valAx>
        <c:axId val="138721521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8721604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>
      <a:outerShdw blurRad="63500" sx="102000" sy="102000" algn="ctr" rotWithShape="0">
        <a:prstClr val="black">
          <a:alpha val="40000"/>
        </a:prstClr>
      </a:outerShdw>
    </a:effectLst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pivotSource>
    <c:name>[Final_Zomato_restaurants_data.xlsx]Descriptive Data!PivotTable25</c:name>
    <c:fmtId val="10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Average Rating for each County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gradFill rotWithShape="1">
            <a:gsLst>
              <a:gs pos="0">
                <a:schemeClr val="accent5">
                  <a:shade val="51000"/>
                  <a:satMod val="130000"/>
                </a:schemeClr>
              </a:gs>
              <a:gs pos="80000">
                <a:schemeClr val="accent5">
                  <a:shade val="93000"/>
                  <a:satMod val="130000"/>
                </a:schemeClr>
              </a:gs>
              <a:gs pos="100000">
                <a:schemeClr val="accent5">
                  <a:shade val="94000"/>
                  <a:satMod val="135000"/>
                </a:scheme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5">
                    <a:shade val="51000"/>
                    <a:satMod val="130000"/>
                  </a:schemeClr>
                </a:gs>
                <a:gs pos="80000">
                  <a:schemeClr val="accent5">
                    <a:shade val="93000"/>
                    <a:satMod val="130000"/>
                  </a:schemeClr>
                </a:gs>
                <a:gs pos="100000">
                  <a:schemeClr val="accent5">
                    <a:shade val="94000"/>
                    <a:satMod val="135000"/>
                  </a:schemeClr>
                </a:gs>
              </a:gsLst>
              <a:lin ang="16200000" scaled="0"/>
            </a:gradFill>
            <a:ln w="9525">
              <a:solidFill>
                <a:schemeClr val="accent5"/>
              </a:solidFill>
              <a:round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numFmt formatCode="#,##0.0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rotWithShape="1">
            <a:gsLst>
              <a:gs pos="0">
                <a:schemeClr val="accent5">
                  <a:shade val="51000"/>
                  <a:satMod val="130000"/>
                </a:schemeClr>
              </a:gs>
              <a:gs pos="80000">
                <a:schemeClr val="accent5">
                  <a:shade val="93000"/>
                  <a:satMod val="130000"/>
                </a:schemeClr>
              </a:gs>
              <a:gs pos="100000">
                <a:schemeClr val="accent5">
                  <a:shade val="94000"/>
                  <a:satMod val="135000"/>
                </a:scheme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numFmt formatCode="#,##0.0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5">
                  <a:shade val="51000"/>
                  <a:satMod val="130000"/>
                </a:schemeClr>
              </a:gs>
              <a:gs pos="80000">
                <a:schemeClr val="accent5">
                  <a:shade val="93000"/>
                  <a:satMod val="130000"/>
                </a:schemeClr>
              </a:gs>
              <a:gs pos="100000">
                <a:schemeClr val="accent5">
                  <a:shade val="94000"/>
                  <a:satMod val="135000"/>
                </a:scheme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numFmt formatCode="#,##0.0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gradFill rotWithShape="1">
            <a:gsLst>
              <a:gs pos="0">
                <a:schemeClr val="accent5">
                  <a:shade val="51000"/>
                  <a:satMod val="130000"/>
                </a:schemeClr>
              </a:gs>
              <a:gs pos="80000">
                <a:schemeClr val="accent5">
                  <a:shade val="93000"/>
                  <a:satMod val="130000"/>
                </a:schemeClr>
              </a:gs>
              <a:gs pos="100000">
                <a:schemeClr val="accent5">
                  <a:shade val="94000"/>
                  <a:satMod val="135000"/>
                </a:scheme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numFmt formatCode="#,##0.0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gradFill rotWithShape="1">
            <a:gsLst>
              <a:gs pos="0">
                <a:schemeClr val="accent5">
                  <a:shade val="51000"/>
                  <a:satMod val="130000"/>
                </a:schemeClr>
              </a:gs>
              <a:gs pos="80000">
                <a:schemeClr val="accent5">
                  <a:shade val="93000"/>
                  <a:satMod val="130000"/>
                </a:schemeClr>
              </a:gs>
              <a:gs pos="100000">
                <a:schemeClr val="accent5">
                  <a:shade val="94000"/>
                  <a:satMod val="135000"/>
                </a:scheme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numFmt formatCode="#,##0.0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13192236005194213"/>
          <c:y val="0.18603421410030035"/>
          <c:w val="0.83749125047538076"/>
          <c:h val="0.3970999723930415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'Descriptive Data'!$AH$2</c:f>
              <c:strCache>
                <c:ptCount val="1"/>
                <c:pt idx="0">
                  <c:v>Total</c:v>
                </c:pt>
              </c:strCache>
            </c:strRef>
          </c:tx>
          <c:spPr>
            <a:gradFill>
              <a:gsLst>
                <a:gs pos="0">
                  <a:schemeClr val="accent5">
                    <a:shade val="51000"/>
                    <a:satMod val="130000"/>
                  </a:schemeClr>
                </a:gs>
                <a:gs pos="80000">
                  <a:schemeClr val="accent5">
                    <a:shade val="93000"/>
                    <a:satMod val="130000"/>
                  </a:schemeClr>
                </a:gs>
                <a:gs pos="100000">
                  <a:schemeClr val="accent5">
                    <a:shade val="94000"/>
                    <a:satMod val="135000"/>
                  </a:schemeClr>
                </a:gs>
              </a:gsLst>
              <a:lin ang="1620000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numFmt formatCode="#,##0.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'Descriptive Data'!$AG$3:$AG$18</c:f>
              <c:strCache>
                <c:ptCount val="15"/>
                <c:pt idx="0">
                  <c:v>Australia</c:v>
                </c:pt>
                <c:pt idx="1">
                  <c:v>Brazil</c:v>
                </c:pt>
                <c:pt idx="2">
                  <c:v>Canada</c:v>
                </c:pt>
                <c:pt idx="3">
                  <c:v>India</c:v>
                </c:pt>
                <c:pt idx="4">
                  <c:v>Indonesia</c:v>
                </c:pt>
                <c:pt idx="5">
                  <c:v>New Zealand</c:v>
                </c:pt>
                <c:pt idx="6">
                  <c:v>Philippines</c:v>
                </c:pt>
                <c:pt idx="7">
                  <c:v>Qatar</c:v>
                </c:pt>
                <c:pt idx="8">
                  <c:v>Singapore</c:v>
                </c:pt>
                <c:pt idx="9">
                  <c:v>South Africa</c:v>
                </c:pt>
                <c:pt idx="10">
                  <c:v>Sri Lanka</c:v>
                </c:pt>
                <c:pt idx="11">
                  <c:v>Turkey</c:v>
                </c:pt>
                <c:pt idx="12">
                  <c:v>United Arab Emirates</c:v>
                </c:pt>
                <c:pt idx="13">
                  <c:v>United Kingdom</c:v>
                </c:pt>
                <c:pt idx="14">
                  <c:v>United States of America</c:v>
                </c:pt>
              </c:strCache>
            </c:strRef>
          </c:cat>
          <c:val>
            <c:numRef>
              <c:f>'Descriptive Data'!$AH$3:$AH$18</c:f>
              <c:numCache>
                <c:formatCode>General</c:formatCode>
                <c:ptCount val="15"/>
                <c:pt idx="0">
                  <c:v>3.6583333333333337</c:v>
                </c:pt>
                <c:pt idx="1">
                  <c:v>3.8466666666666667</c:v>
                </c:pt>
                <c:pt idx="2">
                  <c:v>3.5750000000000002</c:v>
                </c:pt>
                <c:pt idx="3">
                  <c:v>2.7705501618122987</c:v>
                </c:pt>
                <c:pt idx="4">
                  <c:v>4.295238095238096</c:v>
                </c:pt>
                <c:pt idx="5">
                  <c:v>4.2624999999999993</c:v>
                </c:pt>
                <c:pt idx="6">
                  <c:v>4.4681818181818187</c:v>
                </c:pt>
                <c:pt idx="7">
                  <c:v>4.0599999999999996</c:v>
                </c:pt>
                <c:pt idx="8">
                  <c:v>3.5750000000000002</c:v>
                </c:pt>
                <c:pt idx="9">
                  <c:v>4.2100000000000009</c:v>
                </c:pt>
                <c:pt idx="10">
                  <c:v>3.87</c:v>
                </c:pt>
                <c:pt idx="11">
                  <c:v>4.3</c:v>
                </c:pt>
                <c:pt idx="12">
                  <c:v>4.2333333333333352</c:v>
                </c:pt>
                <c:pt idx="13">
                  <c:v>4.0999999999999996</c:v>
                </c:pt>
                <c:pt idx="14">
                  <c:v>4.0143529411764671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351-438A-8374-F2639CF8D01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1835292831"/>
        <c:axId val="1835302399"/>
      </c:barChart>
      <c:catAx>
        <c:axId val="1835292831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b="1"/>
                  <a:t>COUNTRY</a:t>
                </a:r>
              </a:p>
            </c:rich>
          </c:tx>
          <c:layout>
            <c:manualLayout>
              <c:xMode val="edge"/>
              <c:yMode val="edge"/>
              <c:x val="0.44500591256583899"/>
              <c:y val="0.87771043820951256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35302399"/>
        <c:crosses val="autoZero"/>
        <c:auto val="1"/>
        <c:lblAlgn val="ctr"/>
        <c:lblOffset val="100"/>
        <c:noMultiLvlLbl val="0"/>
      </c:catAx>
      <c:valAx>
        <c:axId val="183530239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b="1"/>
                  <a:t>RATING</a:t>
                </a:r>
              </a:p>
            </c:rich>
          </c:tx>
          <c:layout>
            <c:manualLayout>
              <c:xMode val="edge"/>
              <c:yMode val="edge"/>
              <c:x val="1.3888888888888888E-2"/>
              <c:y val="0.29944699620880721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3529283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>
      <a:outerShdw blurRad="63500" sx="102000" sy="102000" algn="ctr" rotWithShape="0">
        <a:prstClr val="black">
          <a:alpha val="40000"/>
        </a:prstClr>
      </a:outerShdw>
    </a:effectLst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pivotSource>
    <c:name>[Final_Zomato_restaurants_data.xlsx]Descriptive Data!PivotTable24</c:name>
    <c:fmtId val="6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Average_Cost_for_two (INR) per country</a:t>
            </a:r>
          </a:p>
        </c:rich>
      </c:tx>
      <c:layout>
        <c:manualLayout>
          <c:xMode val="edge"/>
          <c:yMode val="edge"/>
          <c:x val="0.15933091441313726"/>
          <c:y val="2.504844446218083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gradFill rotWithShape="1">
            <a:gsLst>
              <a:gs pos="0">
                <a:schemeClr val="accent5">
                  <a:shade val="51000"/>
                  <a:satMod val="130000"/>
                </a:schemeClr>
              </a:gs>
              <a:gs pos="80000">
                <a:schemeClr val="accent5">
                  <a:shade val="93000"/>
                  <a:satMod val="130000"/>
                </a:schemeClr>
              </a:gs>
              <a:gs pos="100000">
                <a:schemeClr val="accent5">
                  <a:shade val="94000"/>
                  <a:satMod val="135000"/>
                </a:scheme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5">
                    <a:shade val="51000"/>
                    <a:satMod val="130000"/>
                  </a:schemeClr>
                </a:gs>
                <a:gs pos="80000">
                  <a:schemeClr val="accent5">
                    <a:shade val="93000"/>
                    <a:satMod val="130000"/>
                  </a:schemeClr>
                </a:gs>
                <a:gs pos="100000">
                  <a:schemeClr val="accent5">
                    <a:shade val="94000"/>
                    <a:satMod val="135000"/>
                  </a:schemeClr>
                </a:gs>
              </a:gsLst>
              <a:lin ang="16200000" scaled="0"/>
            </a:gradFill>
            <a:ln w="9525">
              <a:solidFill>
                <a:schemeClr val="accent5"/>
              </a:solidFill>
              <a:round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numFmt formatCode="#,##0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rotWithShape="1">
            <a:gsLst>
              <a:gs pos="0">
                <a:schemeClr val="accent5">
                  <a:shade val="51000"/>
                  <a:satMod val="130000"/>
                </a:schemeClr>
              </a:gs>
              <a:gs pos="80000">
                <a:schemeClr val="accent5">
                  <a:shade val="93000"/>
                  <a:satMod val="130000"/>
                </a:schemeClr>
              </a:gs>
              <a:gs pos="100000">
                <a:schemeClr val="accent5">
                  <a:shade val="94000"/>
                  <a:satMod val="135000"/>
                </a:scheme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numFmt formatCode="#,##0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5">
                  <a:shade val="51000"/>
                  <a:satMod val="130000"/>
                </a:schemeClr>
              </a:gs>
              <a:gs pos="80000">
                <a:schemeClr val="accent5">
                  <a:shade val="93000"/>
                  <a:satMod val="130000"/>
                </a:schemeClr>
              </a:gs>
              <a:gs pos="100000">
                <a:schemeClr val="accent5">
                  <a:shade val="94000"/>
                  <a:satMod val="135000"/>
                </a:scheme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numFmt formatCode="#,##0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gradFill rotWithShape="1">
            <a:gsLst>
              <a:gs pos="0">
                <a:schemeClr val="accent5">
                  <a:shade val="51000"/>
                  <a:satMod val="130000"/>
                </a:schemeClr>
              </a:gs>
              <a:gs pos="80000">
                <a:schemeClr val="accent5">
                  <a:shade val="93000"/>
                  <a:satMod val="130000"/>
                </a:schemeClr>
              </a:gs>
              <a:gs pos="100000">
                <a:schemeClr val="accent5">
                  <a:shade val="94000"/>
                  <a:satMod val="135000"/>
                </a:scheme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numFmt formatCode="#,##0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gradFill rotWithShape="1">
            <a:gsLst>
              <a:gs pos="0">
                <a:schemeClr val="accent5">
                  <a:shade val="51000"/>
                  <a:satMod val="130000"/>
                </a:schemeClr>
              </a:gs>
              <a:gs pos="80000">
                <a:schemeClr val="accent5">
                  <a:shade val="93000"/>
                  <a:satMod val="130000"/>
                </a:schemeClr>
              </a:gs>
              <a:gs pos="100000">
                <a:schemeClr val="accent5">
                  <a:shade val="94000"/>
                  <a:satMod val="135000"/>
                </a:scheme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numFmt formatCode="#,##0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'Descriptive Data'!$AE$2</c:f>
              <c:strCache>
                <c:ptCount val="1"/>
                <c:pt idx="0">
                  <c:v>Total</c:v>
                </c:pt>
              </c:strCache>
            </c:strRef>
          </c:tx>
          <c:spPr>
            <a:gradFill>
              <a:gsLst>
                <a:gs pos="0">
                  <a:schemeClr val="accent5">
                    <a:shade val="51000"/>
                    <a:satMod val="130000"/>
                  </a:schemeClr>
                </a:gs>
                <a:gs pos="80000">
                  <a:schemeClr val="accent5">
                    <a:shade val="93000"/>
                    <a:satMod val="130000"/>
                  </a:schemeClr>
                </a:gs>
                <a:gs pos="100000">
                  <a:schemeClr val="accent5">
                    <a:shade val="94000"/>
                    <a:satMod val="135000"/>
                  </a:schemeClr>
                </a:gs>
              </a:gsLst>
              <a:lin ang="1620000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'Descriptive Data'!$AD$3:$AD$18</c:f>
              <c:strCache>
                <c:ptCount val="15"/>
                <c:pt idx="0">
                  <c:v>Australia</c:v>
                </c:pt>
                <c:pt idx="1">
                  <c:v>Brazil</c:v>
                </c:pt>
                <c:pt idx="2">
                  <c:v>Canada</c:v>
                </c:pt>
                <c:pt idx="3">
                  <c:v>India</c:v>
                </c:pt>
                <c:pt idx="4">
                  <c:v>Indonesia</c:v>
                </c:pt>
                <c:pt idx="5">
                  <c:v>New Zealand</c:v>
                </c:pt>
                <c:pt idx="6">
                  <c:v>Philippines</c:v>
                </c:pt>
                <c:pt idx="7">
                  <c:v>Qatar</c:v>
                </c:pt>
                <c:pt idx="8">
                  <c:v>Singapore</c:v>
                </c:pt>
                <c:pt idx="9">
                  <c:v>South Africa</c:v>
                </c:pt>
                <c:pt idx="10">
                  <c:v>Sri Lanka</c:v>
                </c:pt>
                <c:pt idx="11">
                  <c:v>Turkey</c:v>
                </c:pt>
                <c:pt idx="12">
                  <c:v>United Arab Emirates</c:v>
                </c:pt>
                <c:pt idx="13">
                  <c:v>United Kingdom</c:v>
                </c:pt>
                <c:pt idx="14">
                  <c:v>United States of America</c:v>
                </c:pt>
              </c:strCache>
            </c:strRef>
          </c:cat>
          <c:val>
            <c:numRef>
              <c:f>'Descriptive Data'!$AE$3:$AE$18</c:f>
              <c:numCache>
                <c:formatCode>General</c:formatCode>
                <c:ptCount val="15"/>
                <c:pt idx="0">
                  <c:v>2153.0500000000002</c:v>
                </c:pt>
                <c:pt idx="1">
                  <c:v>2240.853333333333</c:v>
                </c:pt>
                <c:pt idx="2">
                  <c:v>3240.75</c:v>
                </c:pt>
                <c:pt idx="3">
                  <c:v>624.01883883030087</c:v>
                </c:pt>
                <c:pt idx="4">
                  <c:v>1518.4285714285713</c:v>
                </c:pt>
                <c:pt idx="5">
                  <c:v>3572.5950000000003</c:v>
                </c:pt>
                <c:pt idx="6">
                  <c:v>2458.431818181818</c:v>
                </c:pt>
                <c:pt idx="7">
                  <c:v>5499.7749999999996</c:v>
                </c:pt>
                <c:pt idx="8">
                  <c:v>13924.05</c:v>
                </c:pt>
                <c:pt idx="9">
                  <c:v>2191.0079999999998</c:v>
                </c:pt>
                <c:pt idx="10">
                  <c:v>688.75</c:v>
                </c:pt>
                <c:pt idx="11">
                  <c:v>178.19117647058823</c:v>
                </c:pt>
                <c:pt idx="12">
                  <c:v>4050.581666666666</c:v>
                </c:pt>
                <c:pt idx="13">
                  <c:v>5654.3062499999996</c:v>
                </c:pt>
                <c:pt idx="14">
                  <c:v>2389.2134532871974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9D0-405A-B8D1-F29F14EB158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1505675999"/>
        <c:axId val="1505674751"/>
      </c:barChart>
      <c:catAx>
        <c:axId val="1505675999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b="1"/>
                  <a:t>COUNTRY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05674751"/>
        <c:crosses val="autoZero"/>
        <c:auto val="1"/>
        <c:lblAlgn val="ctr"/>
        <c:lblOffset val="100"/>
        <c:noMultiLvlLbl val="0"/>
      </c:catAx>
      <c:valAx>
        <c:axId val="1505674751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b="1"/>
                  <a:t>PRICE(INR)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0567599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>
      <a:outerShdw blurRad="63500" sx="102000" sy="102000" algn="ctr" rotWithShape="0">
        <a:prstClr val="black">
          <a:alpha val="40000"/>
        </a:prstClr>
      </a:outerShdw>
    </a:effectLst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[Final_Zomato_restaurants_data.xlsx]Descriptive Data!PivotTable12</c:name>
    <c:fmtId val="7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Top</a:t>
            </a:r>
            <a:r>
              <a:rPr lang="en-US" baseline="0"/>
              <a:t> 10 Cuisines Distribution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  <c:marker>
          <c:symbol val="circle"/>
          <c:size val="6"/>
        </c:marker>
        <c:dLbl>
          <c:idx val="0"/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  <c:marker>
          <c:symbol val="none"/>
        </c:marker>
        <c:dLbl>
          <c:idx val="0"/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3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4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5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6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7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8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9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10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11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12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  <c:marker>
          <c:symbol val="none"/>
        </c:marker>
        <c:dLbl>
          <c:idx val="0"/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14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15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16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17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18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19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20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21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22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</c:pivotFmts>
    <c:plotArea>
      <c:layout/>
      <c:pieChart>
        <c:varyColors val="1"/>
        <c:ser>
          <c:idx val="0"/>
          <c:order val="0"/>
          <c:tx>
            <c:strRef>
              <c:f>'Descriptive Data'!$E$30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7F72-4BB9-AFF3-6F3C05A46487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7F72-4BB9-AFF3-6F3C05A46487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7F72-4BB9-AFF3-6F3C05A46487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7F72-4BB9-AFF3-6F3C05A46487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9-7F72-4BB9-AFF3-6F3C05A46487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B-7F72-4BB9-AFF3-6F3C05A46487}"/>
              </c:ext>
            </c:extLst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D-7F72-4BB9-AFF3-6F3C05A46487}"/>
              </c:ext>
            </c:extLst>
          </c:dPt>
          <c:dPt>
            <c:idx val="7"/>
            <c:bubble3D val="0"/>
            <c:spPr>
              <a:solidFill>
                <a:schemeClr val="accent2">
                  <a:lumMod val="60000"/>
                </a:schemeClr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F-7F72-4BB9-AFF3-6F3C05A46487}"/>
              </c:ext>
            </c:extLst>
          </c:dPt>
          <c:dPt>
            <c:idx val="8"/>
            <c:bubble3D val="0"/>
            <c:spPr>
              <a:solidFill>
                <a:schemeClr val="accent3">
                  <a:lumMod val="60000"/>
                </a:schemeClr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1-7F72-4BB9-AFF3-6F3C05A46487}"/>
              </c:ext>
            </c:extLst>
          </c:dPt>
          <c:dPt>
            <c:idx val="9"/>
            <c:bubble3D val="0"/>
            <c:spPr>
              <a:solidFill>
                <a:schemeClr val="accent4">
                  <a:lumMod val="60000"/>
                </a:schemeClr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3-7F72-4BB9-AFF3-6F3C05A46487}"/>
              </c:ext>
            </c:extLst>
          </c:dPt>
          <c:dLbls>
            <c:spPr>
              <a:pattFill prst="pct75">
                <a:fgClr>
                  <a:sysClr val="windowText" lastClr="000000">
                    <a:lumMod val="75000"/>
                    <a:lumOff val="25000"/>
                  </a:sysClr>
                </a:fgClr>
                <a:bgClr>
                  <a:sysClr val="windowText" lastClr="000000">
                    <a:lumMod val="65000"/>
                    <a:lumOff val="35000"/>
                  </a:sys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'Descriptive Data'!$D$31:$D$41</c:f>
              <c:strCache>
                <c:ptCount val="10"/>
                <c:pt idx="0">
                  <c:v>North Indian</c:v>
                </c:pt>
                <c:pt idx="1">
                  <c:v>North Indian, Chinese</c:v>
                </c:pt>
                <c:pt idx="2">
                  <c:v>Chinese</c:v>
                </c:pt>
                <c:pt idx="3">
                  <c:v>Fast Food</c:v>
                </c:pt>
                <c:pt idx="4">
                  <c:v>North Indian, Mughlai</c:v>
                </c:pt>
                <c:pt idx="5">
                  <c:v>Cafe</c:v>
                </c:pt>
                <c:pt idx="6">
                  <c:v>Bakery</c:v>
                </c:pt>
                <c:pt idx="7">
                  <c:v>North Indian, Mughlai, Chinese</c:v>
                </c:pt>
                <c:pt idx="8">
                  <c:v>Bakery, Desserts</c:v>
                </c:pt>
                <c:pt idx="9">
                  <c:v>Street Food</c:v>
                </c:pt>
              </c:strCache>
            </c:strRef>
          </c:cat>
          <c:val>
            <c:numRef>
              <c:f>'Descriptive Data'!$E$31:$E$41</c:f>
              <c:numCache>
                <c:formatCode>General</c:formatCode>
                <c:ptCount val="10"/>
                <c:pt idx="0">
                  <c:v>936</c:v>
                </c:pt>
                <c:pt idx="1">
                  <c:v>511</c:v>
                </c:pt>
                <c:pt idx="2">
                  <c:v>354</c:v>
                </c:pt>
                <c:pt idx="3">
                  <c:v>354</c:v>
                </c:pt>
                <c:pt idx="4">
                  <c:v>334</c:v>
                </c:pt>
                <c:pt idx="5">
                  <c:v>299</c:v>
                </c:pt>
                <c:pt idx="6">
                  <c:v>218</c:v>
                </c:pt>
                <c:pt idx="7">
                  <c:v>197</c:v>
                </c:pt>
                <c:pt idx="8">
                  <c:v>170</c:v>
                </c:pt>
                <c:pt idx="9">
                  <c:v>149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7F72-4BB9-AFF3-6F3C05A46487}"/>
            </c:ext>
          </c:extLst>
        </c:ser>
        <c:dLbls>
          <c:dLblPos val="ctr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[Final_Zomato_restaurants_data.xlsx]Descriptive Data!PivotTable14</c:name>
    <c:fmtId val="6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400" b="1"/>
              <a:t>Table Booking</a:t>
            </a:r>
          </a:p>
        </c:rich>
      </c:tx>
      <c:layout>
        <c:manualLayout>
          <c:xMode val="edge"/>
          <c:yMode val="edge"/>
          <c:x val="0.50382173568592281"/>
          <c:y val="5.730004879488632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</c:pivotFmt>
      <c:pivotFmt>
        <c:idx val="3"/>
      </c:pivotFmt>
      <c:pivotFmt>
        <c:idx val="4"/>
        <c:spPr>
          <a:solidFill>
            <a:schemeClr val="accent6"/>
          </a:solidFill>
          <a:ln w="19050">
            <a:solidFill>
              <a:schemeClr val="lt1"/>
            </a:solidFill>
          </a:ln>
          <a:effectLst/>
        </c:spPr>
        <c:marker>
          <c:symbol val="circle"/>
          <c:size val="5"/>
        </c:marker>
        <c:dLbl>
          <c:idx val="0"/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4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5"/>
        <c:spPr>
          <a:solidFill>
            <a:schemeClr val="accent6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9.4599498952578132E-2"/>
              <c:y val="0.3641907890763158"/>
            </c:manualLayout>
          </c:layout>
          <c:tx>
            <c:rich>
              <a:bodyPr rot="0" spcFirstLastPara="1" vertOverflow="clip" horzOverflow="clip" vert="horz" wrap="square" lIns="38100" tIns="19050" rIns="38100" bIns="19050" anchor="ctr" anchorCtr="1">
                <a:no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fld id="{0342DDA3-1CF5-413A-8218-28D19A12D133}" type="PERCENTAGE">
                  <a:rPr lang="en-US" sz="1400" b="1" baseline="0"/>
                  <a:pPr>
                    <a:defRPr sz="1400" b="1" i="0" u="none" strike="noStrike" kern="1200" baseline="0">
                      <a:solidFill>
                        <a:schemeClr val="dk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t>[PERCENTAGE]</a:t>
                </a:fld>
                <a:endParaRPr lang="en-IN"/>
              </a:p>
            </c:rich>
          </c:tx>
          <c:spPr>
            <a:solidFill>
              <a:sysClr val="window" lastClr="FFFFFF"/>
            </a:solidFill>
            <a:ln w="9525" cap="flat" cmpd="sng" algn="ctr">
              <a:solidFill>
                <a:sysClr val="windowText" lastClr="000000">
                  <a:lumMod val="25000"/>
                  <a:lumOff val="75000"/>
                </a:sysClr>
              </a:solidFill>
              <a:prstDash val="solid"/>
              <a:round/>
              <a:headEnd type="none" w="med" len="med"/>
              <a:tailEnd type="none" w="med" len="med"/>
              <a:extLst>
                <a:ext uri="{C807C97D-BFC1-408E-A445-0C87EB9F89A2}">
                  <ask:lineSketchStyleProps xmlns:ask="http://schemas.microsoft.com/office/drawing/2018/sketchyshapes" sd="0">
                    <a:custGeom>
                      <a:avLst/>
                      <a:gdLst/>
                      <a:ahLst/>
                      <a:cxnLst/>
                      <a:rect l="0" t="0" r="0" b="0"/>
                      <a:pathLst/>
                    </a:custGeom>
                    <ask:type/>
                  </ask:lineSketchStyleProps>
                </a:ext>
              </a:extLst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noAutofit/>
            </a:bodyPr>
            <a:lstStyle/>
            <a:p>
              <a:pPr>
                <a:defRPr sz="1400" b="1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>
                    <a:gd name="adj1" fmla="val -160955"/>
                    <a:gd name="adj2" fmla="val -103116"/>
                  </a:avLst>
                </a:prstGeom>
                <a:noFill/>
                <a:ln>
                  <a:noFill/>
                </a:ln>
              </c15:spPr>
              <c15:layout>
                <c:manualLayout>
                  <c:w val="9.6266051734369529E-2"/>
                  <c:h val="0.11331650454783368"/>
                </c:manualLayout>
              </c15:layout>
              <c15:dlblFieldTable/>
              <c15:showDataLabelsRange val="0"/>
            </c:ext>
          </c:extLst>
        </c:dLbl>
      </c:pivotFmt>
      <c:pivotFmt>
        <c:idx val="6"/>
        <c:spPr>
          <a:solidFill>
            <a:schemeClr val="accent5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4.8798556824694243E-2"/>
              <c:y val="-0.33660787676404019"/>
            </c:manualLayout>
          </c:layout>
          <c:tx>
            <c:rich>
              <a:bodyPr rot="0" spcFirstLastPara="1" vertOverflow="clip" horzOverflow="clip" vert="horz" wrap="square" lIns="38100" tIns="19050" rIns="38100" bIns="19050" anchor="ctr" anchorCtr="1">
                <a:no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fld id="{2A5D9D57-E580-4DF8-8756-010F34D3814C}" type="PERCENTAGE">
                  <a:rPr lang="en-US" sz="1400" b="1" baseline="0"/>
                  <a:pPr>
                    <a:defRPr sz="1400" b="1" i="0" u="none" strike="noStrike" kern="1200" baseline="0">
                      <a:solidFill>
                        <a:schemeClr val="dk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t>[PERCENTAGE]</a:t>
                </a:fld>
                <a:endParaRPr lang="en-IN"/>
              </a:p>
            </c:rich>
          </c:tx>
          <c:spPr>
            <a:solidFill>
              <a:sysClr val="window" lastClr="FFFFFF"/>
            </a:solidFill>
            <a:ln w="9525" cap="flat" cmpd="sng" algn="ctr">
              <a:solidFill>
                <a:sysClr val="windowText" lastClr="000000">
                  <a:lumMod val="25000"/>
                  <a:lumOff val="75000"/>
                </a:sysClr>
              </a:solidFill>
              <a:prstDash val="solid"/>
              <a:round/>
              <a:headEnd type="none" w="med" len="med"/>
              <a:tailEnd type="none" w="med" len="med"/>
              <a:extLst>
                <a:ext uri="{C807C97D-BFC1-408E-A445-0C87EB9F89A2}">
                  <ask:lineSketchStyleProps xmlns:ask="http://schemas.microsoft.com/office/drawing/2018/sketchyshapes" sd="0">
                    <a:custGeom>
                      <a:avLst/>
                      <a:gdLst/>
                      <a:ahLst/>
                      <a:cxnLst/>
                      <a:rect l="0" t="0" r="0" b="0"/>
                      <a:pathLst/>
                    </a:custGeom>
                    <ask:type/>
                  </ask:lineSketchStyleProps>
                </a:ext>
              </a:extLst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noAutofit/>
            </a:bodyPr>
            <a:lstStyle/>
            <a:p>
              <a:pPr>
                <a:defRPr sz="1400" b="1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>
                    <a:gd name="adj1" fmla="val 83399"/>
                    <a:gd name="adj2" fmla="val 155464"/>
                  </a:avLst>
                </a:prstGeom>
                <a:noFill/>
                <a:ln>
                  <a:noFill/>
                </a:ln>
              </c15:spPr>
              <c15:layout>
                <c:manualLayout>
                  <c:w val="0.10181582445588193"/>
                  <c:h val="0.12791524606734425"/>
                </c:manualLayout>
              </c15:layout>
              <c15:dlblFieldTable/>
              <c15:showDataLabelsRange val="0"/>
            </c:ext>
          </c:extLst>
        </c:dLbl>
      </c:pivotFmt>
      <c:pivotFmt>
        <c:idx val="7"/>
        <c:spPr>
          <a:solidFill>
            <a:schemeClr val="accent6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4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8"/>
        <c:spPr>
          <a:solidFill>
            <a:schemeClr val="accent6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9.4599498952578132E-2"/>
              <c:y val="0.3641907890763158"/>
            </c:manualLayout>
          </c:layout>
          <c:tx>
            <c:rich>
              <a:bodyPr rot="0" spcFirstLastPara="1" vertOverflow="clip" horzOverflow="clip" vert="horz" wrap="square" lIns="38100" tIns="19050" rIns="38100" bIns="19050" anchor="ctr" anchorCtr="1">
                <a:no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fld id="{0342DDA3-1CF5-413A-8218-28D19A12D133}" type="PERCENTAGE">
                  <a:rPr lang="en-US" sz="1400" b="1" baseline="0"/>
                  <a:pPr>
                    <a:defRPr sz="1400" b="1" i="0" u="none" strike="noStrike" kern="1200" baseline="0">
                      <a:solidFill>
                        <a:schemeClr val="dk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t>[PERCENTAGE]</a:t>
                </a:fld>
                <a:endParaRPr lang="en-IN"/>
              </a:p>
            </c:rich>
          </c:tx>
          <c:spPr>
            <a:solidFill>
              <a:sysClr val="window" lastClr="FFFFFF"/>
            </a:solidFill>
            <a:ln w="9525" cap="flat" cmpd="sng" algn="ctr">
              <a:solidFill>
                <a:sysClr val="windowText" lastClr="000000">
                  <a:lumMod val="25000"/>
                  <a:lumOff val="75000"/>
                </a:sysClr>
              </a:solidFill>
              <a:prstDash val="solid"/>
              <a:round/>
              <a:headEnd type="none" w="med" len="med"/>
              <a:tailEnd type="none" w="med" len="med"/>
              <a:extLst>
                <a:ext uri="{C807C97D-BFC1-408E-A445-0C87EB9F89A2}">
                  <ask:lineSketchStyleProps xmlns:ask="http://schemas.microsoft.com/office/drawing/2018/sketchyshapes" sd="0">
                    <a:custGeom>
                      <a:avLst/>
                      <a:gdLst/>
                      <a:ahLst/>
                      <a:cxnLst/>
                      <a:rect l="0" t="0" r="0" b="0"/>
                      <a:pathLst/>
                    </a:custGeom>
                    <ask:type/>
                  </ask:lineSketchStyleProps>
                </a:ext>
              </a:extLst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noAutofit/>
            </a:bodyPr>
            <a:lstStyle/>
            <a:p>
              <a:pPr>
                <a:defRPr sz="1400" b="1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>
                    <a:gd name="adj1" fmla="val -160955"/>
                    <a:gd name="adj2" fmla="val -103116"/>
                  </a:avLst>
                </a:prstGeom>
                <a:noFill/>
                <a:ln>
                  <a:noFill/>
                </a:ln>
              </c15:spPr>
              <c15:layout>
                <c:manualLayout>
                  <c:w val="9.6266051734369529E-2"/>
                  <c:h val="0.11331650454783368"/>
                </c:manualLayout>
              </c15:layout>
              <c15:dlblFieldTable/>
              <c15:showDataLabelsRange val="0"/>
            </c:ext>
          </c:extLst>
        </c:dLbl>
      </c:pivotFmt>
      <c:pivotFmt>
        <c:idx val="9"/>
        <c:spPr>
          <a:solidFill>
            <a:schemeClr val="accent6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4.8798556824694243E-2"/>
              <c:y val="-0.33660787676404019"/>
            </c:manualLayout>
          </c:layout>
          <c:tx>
            <c:rich>
              <a:bodyPr rot="0" spcFirstLastPara="1" vertOverflow="clip" horzOverflow="clip" vert="horz" wrap="square" lIns="38100" tIns="19050" rIns="38100" bIns="19050" anchor="ctr" anchorCtr="1">
                <a:no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fld id="{2A5D9D57-E580-4DF8-8756-010F34D3814C}" type="PERCENTAGE">
                  <a:rPr lang="en-US" sz="1400" b="1" baseline="0"/>
                  <a:pPr>
                    <a:defRPr sz="1400" b="1" i="0" u="none" strike="noStrike" kern="1200" baseline="0">
                      <a:solidFill>
                        <a:schemeClr val="dk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t>[PERCENTAGE]</a:t>
                </a:fld>
                <a:endParaRPr lang="en-IN"/>
              </a:p>
            </c:rich>
          </c:tx>
          <c:spPr>
            <a:solidFill>
              <a:sysClr val="window" lastClr="FFFFFF"/>
            </a:solidFill>
            <a:ln w="9525" cap="flat" cmpd="sng" algn="ctr">
              <a:solidFill>
                <a:sysClr val="windowText" lastClr="000000">
                  <a:lumMod val="25000"/>
                  <a:lumOff val="75000"/>
                </a:sysClr>
              </a:solidFill>
              <a:prstDash val="solid"/>
              <a:round/>
              <a:headEnd type="none" w="med" len="med"/>
              <a:tailEnd type="none" w="med" len="med"/>
              <a:extLst>
                <a:ext uri="{C807C97D-BFC1-408E-A445-0C87EB9F89A2}">
                  <ask:lineSketchStyleProps xmlns:ask="http://schemas.microsoft.com/office/drawing/2018/sketchyshapes" sd="0">
                    <a:custGeom>
                      <a:avLst/>
                      <a:gdLst/>
                      <a:ahLst/>
                      <a:cxnLst/>
                      <a:rect l="0" t="0" r="0" b="0"/>
                      <a:pathLst/>
                    </a:custGeom>
                    <ask:type/>
                  </ask:lineSketchStyleProps>
                </a:ext>
              </a:extLst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noAutofit/>
            </a:bodyPr>
            <a:lstStyle/>
            <a:p>
              <a:pPr>
                <a:defRPr sz="1400" b="1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>
                    <a:gd name="adj1" fmla="val 83399"/>
                    <a:gd name="adj2" fmla="val 155464"/>
                  </a:avLst>
                </a:prstGeom>
                <a:noFill/>
                <a:ln>
                  <a:noFill/>
                </a:ln>
              </c15:spPr>
              <c15:layout>
                <c:manualLayout>
                  <c:w val="0.10181582445588193"/>
                  <c:h val="0.12791524606734425"/>
                </c:manualLayout>
              </c15:layout>
              <c15:dlblFieldTable/>
              <c15:showDataLabelsRange val="0"/>
            </c:ext>
          </c:extLst>
        </c:dLbl>
      </c:pivotFmt>
      <c:pivotFmt>
        <c:idx val="10"/>
        <c:spPr>
          <a:solidFill>
            <a:schemeClr val="accent6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4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1"/>
        <c:spPr>
          <a:solidFill>
            <a:schemeClr val="accent6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9.4599498952578132E-2"/>
              <c:y val="0.3641907890763158"/>
            </c:manualLayout>
          </c:layout>
          <c:tx>
            <c:rich>
              <a:bodyPr rot="0" spcFirstLastPara="1" vertOverflow="clip" horzOverflow="clip" vert="horz" wrap="square" lIns="38100" tIns="19050" rIns="38100" bIns="19050" anchor="ctr" anchorCtr="1">
                <a:no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fld id="{0342DDA3-1CF5-413A-8218-28D19A12D133}" type="PERCENTAGE">
                  <a:rPr lang="en-US" sz="1400" b="1" baseline="0"/>
                  <a:pPr>
                    <a:defRPr sz="1400" b="1" i="0" u="none" strike="noStrike" kern="1200" baseline="0">
                      <a:solidFill>
                        <a:schemeClr val="dk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t>[PERCENTAGE]</a:t>
                </a:fld>
                <a:endParaRPr lang="en-IN"/>
              </a:p>
            </c:rich>
          </c:tx>
          <c:spPr>
            <a:solidFill>
              <a:sysClr val="window" lastClr="FFFFFF"/>
            </a:solidFill>
            <a:ln w="9525" cap="flat" cmpd="sng" algn="ctr">
              <a:solidFill>
                <a:sysClr val="windowText" lastClr="000000">
                  <a:lumMod val="25000"/>
                  <a:lumOff val="75000"/>
                </a:sysClr>
              </a:solidFill>
              <a:prstDash val="solid"/>
              <a:round/>
              <a:headEnd type="none" w="med" len="med"/>
              <a:tailEnd type="none" w="med" len="med"/>
              <a:extLst>
                <a:ext uri="{C807C97D-BFC1-408E-A445-0C87EB9F89A2}">
                  <ask:lineSketchStyleProps xmlns:ask="http://schemas.microsoft.com/office/drawing/2018/sketchyshapes" sd="0">
                    <a:custGeom>
                      <a:avLst/>
                      <a:gdLst/>
                      <a:ahLst/>
                      <a:cxnLst/>
                      <a:rect l="0" t="0" r="0" b="0"/>
                      <a:pathLst/>
                    </a:custGeom>
                    <ask:type/>
                  </ask:lineSketchStyleProps>
                </a:ext>
              </a:extLst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noAutofit/>
            </a:bodyPr>
            <a:lstStyle/>
            <a:p>
              <a:pPr>
                <a:defRPr sz="1400" b="1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>
                    <a:gd name="adj1" fmla="val -160955"/>
                    <a:gd name="adj2" fmla="val -103116"/>
                  </a:avLst>
                </a:prstGeom>
                <a:noFill/>
                <a:ln>
                  <a:noFill/>
                </a:ln>
              </c15:spPr>
              <c15:layout>
                <c:manualLayout>
                  <c:w val="9.6266051734369529E-2"/>
                  <c:h val="0.11331650454783368"/>
                </c:manualLayout>
              </c15:layout>
              <c15:dlblFieldTable/>
              <c15:showDataLabelsRange val="0"/>
            </c:ext>
          </c:extLst>
        </c:dLbl>
      </c:pivotFmt>
      <c:pivotFmt>
        <c:idx val="12"/>
        <c:spPr>
          <a:solidFill>
            <a:schemeClr val="accent6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4.8798556824694243E-2"/>
              <c:y val="-0.33660787676404019"/>
            </c:manualLayout>
          </c:layout>
          <c:tx>
            <c:rich>
              <a:bodyPr rot="0" spcFirstLastPara="1" vertOverflow="clip" horzOverflow="clip" vert="horz" wrap="square" lIns="38100" tIns="19050" rIns="38100" bIns="19050" anchor="ctr" anchorCtr="1">
                <a:no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fld id="{2A5D9D57-E580-4DF8-8756-010F34D3814C}" type="PERCENTAGE">
                  <a:rPr lang="en-US" sz="1400" b="1" baseline="0"/>
                  <a:pPr>
                    <a:defRPr sz="1400" b="1" i="0" u="none" strike="noStrike" kern="1200" baseline="0">
                      <a:solidFill>
                        <a:schemeClr val="dk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t>[PERCENTAGE]</a:t>
                </a:fld>
                <a:endParaRPr lang="en-IN"/>
              </a:p>
            </c:rich>
          </c:tx>
          <c:spPr>
            <a:solidFill>
              <a:sysClr val="window" lastClr="FFFFFF"/>
            </a:solidFill>
            <a:ln w="9525" cap="flat" cmpd="sng" algn="ctr">
              <a:solidFill>
                <a:sysClr val="windowText" lastClr="000000">
                  <a:lumMod val="25000"/>
                  <a:lumOff val="75000"/>
                </a:sysClr>
              </a:solidFill>
              <a:prstDash val="solid"/>
              <a:round/>
              <a:headEnd type="none" w="med" len="med"/>
              <a:tailEnd type="none" w="med" len="med"/>
              <a:extLst>
                <a:ext uri="{C807C97D-BFC1-408E-A445-0C87EB9F89A2}">
                  <ask:lineSketchStyleProps xmlns:ask="http://schemas.microsoft.com/office/drawing/2018/sketchyshapes" sd="0">
                    <a:custGeom>
                      <a:avLst/>
                      <a:gdLst/>
                      <a:ahLst/>
                      <a:cxnLst/>
                      <a:rect l="0" t="0" r="0" b="0"/>
                      <a:pathLst/>
                    </a:custGeom>
                    <ask:type/>
                  </ask:lineSketchStyleProps>
                </a:ext>
              </a:extLst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noAutofit/>
            </a:bodyPr>
            <a:lstStyle/>
            <a:p>
              <a:pPr>
                <a:defRPr sz="1400" b="1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>
                    <a:gd name="adj1" fmla="val 83399"/>
                    <a:gd name="adj2" fmla="val 155464"/>
                  </a:avLst>
                </a:prstGeom>
                <a:noFill/>
                <a:ln>
                  <a:noFill/>
                </a:ln>
              </c15:spPr>
              <c15:layout>
                <c:manualLayout>
                  <c:w val="0.10181582445588193"/>
                  <c:h val="0.12791524606734425"/>
                </c:manualLayout>
              </c15:layout>
              <c15:dlblFieldTable/>
              <c15:showDataLabelsRange val="0"/>
            </c:ext>
          </c:extLst>
        </c:dLbl>
      </c:pivotFmt>
    </c:pivotFmts>
    <c:plotArea>
      <c:layout>
        <c:manualLayout>
          <c:layoutTarget val="inner"/>
          <c:xMode val="edge"/>
          <c:yMode val="edge"/>
          <c:x val="9.464317449446033E-2"/>
          <c:y val="0.20212715154824715"/>
          <c:w val="0.38515699266384995"/>
          <c:h val="0.75857066582109078"/>
        </c:manualLayout>
      </c:layout>
      <c:doughnutChart>
        <c:varyColors val="1"/>
        <c:ser>
          <c:idx val="0"/>
          <c:order val="0"/>
          <c:tx>
            <c:strRef>
              <c:f>'Descriptive Data'!$B$30</c:f>
              <c:strCache>
                <c:ptCount val="1"/>
                <c:pt idx="0">
                  <c:v>Total</c:v>
                </c:pt>
              </c:strCache>
            </c:strRef>
          </c:tx>
          <c:explosion val="3"/>
          <c:dPt>
            <c:idx val="0"/>
            <c:bubble3D val="0"/>
            <c:explosion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EFA8-4615-925F-119D45C44F1E}"/>
              </c:ext>
            </c:extLst>
          </c:dPt>
          <c:dPt>
            <c:idx val="1"/>
            <c:bubble3D val="0"/>
            <c:explosion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EFA8-4615-925F-119D45C44F1E}"/>
              </c:ext>
            </c:extLst>
          </c:dPt>
          <c:dLbls>
            <c:dLbl>
              <c:idx val="0"/>
              <c:layout>
                <c:manualLayout>
                  <c:x val="9.4599498952578132E-2"/>
                  <c:y val="0.3641907890763158"/>
                </c:manualLayout>
              </c:layout>
              <c:tx>
                <c:rich>
                  <a:bodyPr rot="0" spcFirstLastPara="1" vertOverflow="clip" horzOverflow="clip" vert="horz" wrap="square" lIns="38100" tIns="19050" rIns="38100" bIns="19050" anchor="ctr" anchorCtr="1">
                    <a:noAutofit/>
                  </a:bodyPr>
                  <a:lstStyle/>
                  <a:p>
                    <a:pPr>
                      <a:defRPr sz="1400" b="1" i="0" u="none" strike="noStrike" kern="1200" baseline="0">
                        <a:solidFill>
                          <a:schemeClr val="dk1">
                            <a:lumMod val="65000"/>
                            <a:lumOff val="35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0342DDA3-1CF5-413A-8218-28D19A12D133}" type="PERCENTAGE">
                      <a:rPr lang="en-US" sz="1400" b="1" baseline="0"/>
                      <a:pPr>
                        <a:defRPr sz="1400" b="1"/>
                      </a:pPr>
                      <a:t>[PERCENTAGE]</a:t>
                    </a:fld>
                    <a:endParaRPr lang="en-IN"/>
                  </a:p>
                </c:rich>
              </c:tx>
              <c:spPr>
                <a:solidFill>
                  <a:sysClr val="window" lastClr="FFFFFF"/>
                </a:solidFill>
                <a:ln w="9525" cap="flat" cmpd="sng" algn="ctr">
                  <a:solidFill>
                    <a:sysClr val="windowText" lastClr="000000">
                      <a:lumMod val="25000"/>
                      <a:lumOff val="75000"/>
                    </a:sysClr>
                  </a:solidFill>
                  <a:prstDash val="solid"/>
                  <a:round/>
                  <a:headEnd type="none" w="med" len="med"/>
                  <a:tailEnd type="none" w="med" len="med"/>
                  <a:extLst>
                    <a:ext uri="{C807C97D-BFC1-408E-A445-0C87EB9F89A2}">
                      <ask:lineSketchStyleProps xmlns:ask="http://schemas.microsoft.com/office/drawing/2018/sketchyshapes" sd="0">
                        <a:custGeom>
                          <a:avLst/>
                          <a:gdLst/>
                          <a:ahLst/>
                          <a:cxnLst/>
                          <a:rect l="0" t="0" r="0" b="0"/>
                          <a:pathLst/>
                        </a:custGeom>
                        <ask:type/>
                      </ask:lineSketchStyleProps>
                    </a:ext>
                  </a:extLst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400" b="1" i="0" u="none" strike="noStrike" kern="1200" baseline="0">
                      <a:solidFill>
                        <a:schemeClr val="dk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>
                        <a:gd name="adj1" fmla="val -160955"/>
                        <a:gd name="adj2" fmla="val -103116"/>
                      </a:avLst>
                    </a:prstGeom>
                    <a:noFill/>
                    <a:ln>
                      <a:noFill/>
                    </a:ln>
                  </c15:spPr>
                  <c15:layout>
                    <c:manualLayout>
                      <c:w val="9.6266051734369529E-2"/>
                      <c:h val="0.11331650454783368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EFA8-4615-925F-119D45C44F1E}"/>
                </c:ext>
              </c:extLst>
            </c:dLbl>
            <c:dLbl>
              <c:idx val="1"/>
              <c:layout>
                <c:manualLayout>
                  <c:x val="-4.8798556824694243E-2"/>
                  <c:y val="-0.33660787676404019"/>
                </c:manualLayout>
              </c:layout>
              <c:tx>
                <c:rich>
                  <a:bodyPr rot="0" spcFirstLastPara="1" vertOverflow="clip" horzOverflow="clip" vert="horz" wrap="square" lIns="38100" tIns="19050" rIns="38100" bIns="19050" anchor="ctr" anchorCtr="1">
                    <a:noAutofit/>
                  </a:bodyPr>
                  <a:lstStyle/>
                  <a:p>
                    <a:pPr>
                      <a:defRPr sz="1400" b="1" i="0" u="none" strike="noStrike" kern="1200" baseline="0">
                        <a:solidFill>
                          <a:schemeClr val="dk1">
                            <a:lumMod val="65000"/>
                            <a:lumOff val="35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2A5D9D57-E580-4DF8-8756-010F34D3814C}" type="PERCENTAGE">
                      <a:rPr lang="en-US" sz="1400" b="1" baseline="0"/>
                      <a:pPr>
                        <a:defRPr sz="1400" b="1"/>
                      </a:pPr>
                      <a:t>[PERCENTAGE]</a:t>
                    </a:fld>
                    <a:endParaRPr lang="en-IN"/>
                  </a:p>
                </c:rich>
              </c:tx>
              <c:spPr>
                <a:solidFill>
                  <a:sysClr val="window" lastClr="FFFFFF"/>
                </a:solidFill>
                <a:ln w="9525" cap="flat" cmpd="sng" algn="ctr">
                  <a:solidFill>
                    <a:sysClr val="windowText" lastClr="000000">
                      <a:lumMod val="25000"/>
                      <a:lumOff val="75000"/>
                    </a:sysClr>
                  </a:solidFill>
                  <a:prstDash val="solid"/>
                  <a:round/>
                  <a:headEnd type="none" w="med" len="med"/>
                  <a:tailEnd type="none" w="med" len="med"/>
                  <a:extLst>
                    <a:ext uri="{C807C97D-BFC1-408E-A445-0C87EB9F89A2}">
                      <ask:lineSketchStyleProps xmlns:ask="http://schemas.microsoft.com/office/drawing/2018/sketchyshapes" sd="0">
                        <a:custGeom>
                          <a:avLst/>
                          <a:gdLst/>
                          <a:ahLst/>
                          <a:cxnLst/>
                          <a:rect l="0" t="0" r="0" b="0"/>
                          <a:pathLst/>
                        </a:custGeom>
                        <ask:type/>
                      </ask:lineSketchStyleProps>
                    </a:ext>
                  </a:extLst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400" b="1" i="0" u="none" strike="noStrike" kern="1200" baseline="0">
                      <a:solidFill>
                        <a:schemeClr val="dk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>
                        <a:gd name="adj1" fmla="val 83399"/>
                        <a:gd name="adj2" fmla="val 155464"/>
                      </a:avLst>
                    </a:prstGeom>
                    <a:noFill/>
                    <a:ln>
                      <a:noFill/>
                    </a:ln>
                  </c15:spPr>
                  <c15:layout>
                    <c:manualLayout>
                      <c:w val="0.10181582445588193"/>
                      <c:h val="0.12791524606734425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EFA8-4615-925F-119D45C44F1E}"/>
                </c:ext>
              </c:extLst>
            </c:dLbl>
            <c:spPr>
              <a:solidFill>
                <a:sysClr val="window" lastClr="FFFFFF"/>
              </a:solidFill>
              <a:ln>
                <a:solidFill>
                  <a:sysClr val="windowText" lastClr="000000">
                    <a:lumMod val="25000"/>
                    <a:lumOff val="75000"/>
                  </a:sys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strRef>
              <c:f>'Descriptive Data'!$A$31:$A$33</c:f>
              <c:strCache>
                <c:ptCount val="2"/>
                <c:pt idx="0">
                  <c:v>No</c:v>
                </c:pt>
                <c:pt idx="1">
                  <c:v>Yes</c:v>
                </c:pt>
              </c:strCache>
            </c:strRef>
          </c:cat>
          <c:val>
            <c:numRef>
              <c:f>'Descriptive Data'!$B$31:$B$33</c:f>
              <c:numCache>
                <c:formatCode>General</c:formatCode>
                <c:ptCount val="2"/>
                <c:pt idx="0">
                  <c:v>2.8085520038167946</c:v>
                </c:pt>
                <c:pt idx="1">
                  <c:v>3.4825561312607936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FA8-4615-925F-119D45C44F1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5"/>
      </c:doughnutChart>
      <c:spPr>
        <a:noFill/>
        <a:ln>
          <a:noFill/>
        </a:ln>
        <a:effectLst/>
      </c:spPr>
    </c:plotArea>
    <c:legend>
      <c:legendPos val="r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legendEntry>
      <c:layout>
        <c:manualLayout>
          <c:xMode val="edge"/>
          <c:yMode val="edge"/>
          <c:x val="0.63534476930156036"/>
          <c:y val="0.36197286101051113"/>
          <c:w val="0.33827737205538871"/>
          <c:h val="0.3273745100827933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>
      <a:outerShdw blurRad="63500" sx="102000" sy="102000" algn="ctr" rotWithShape="0">
        <a:prstClr val="black">
          <a:alpha val="40000"/>
        </a:prstClr>
      </a:outerShdw>
    </a:effectLst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[Final_Zomato_restaurants_data.xlsx]Descriptive Data!PivotTable15</c:name>
    <c:fmtId val="6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2400" b="1"/>
              <a:t>Online Delivery</a:t>
            </a:r>
          </a:p>
        </c:rich>
      </c:tx>
      <c:layout>
        <c:manualLayout>
          <c:xMode val="edge"/>
          <c:yMode val="edge"/>
          <c:x val="0.50350990013401931"/>
          <c:y val="6.93436529819802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</c:pivotFmt>
      <c:pivotFmt>
        <c:idx val="3"/>
      </c:pivotFmt>
      <c:pivotFmt>
        <c:idx val="4"/>
        <c:spPr>
          <a:solidFill>
            <a:schemeClr val="accent6"/>
          </a:solidFill>
          <a:ln w="19050">
            <a:solidFill>
              <a:schemeClr val="lt1"/>
            </a:solidFill>
          </a:ln>
          <a:effectLst/>
        </c:spPr>
        <c:marker>
          <c:symbol val="circle"/>
          <c:size val="5"/>
        </c:marker>
        <c:dLbl>
          <c:idx val="0"/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400" b="1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5"/>
        <c:spPr>
          <a:solidFill>
            <a:schemeClr val="accent6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0.10964562590606504"/>
              <c:y val="0.31607457181813475"/>
            </c:manualLayout>
          </c:layout>
          <c:tx>
            <c:rich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fld id="{262EE975-3238-424D-A3A3-909A6B7B2A9B}" type="PERCENTAGE">
                  <a:rPr lang="en-US" baseline="0"/>
                  <a:pPr>
                    <a:defRPr sz="1400" b="1" i="0" u="none" strike="noStrike" kern="1200" baseline="0">
                      <a:solidFill>
                        <a:schemeClr val="dk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t>[PERCENTAGE]</a:t>
                </a:fld>
                <a:endParaRPr lang="en-IN"/>
              </a:p>
            </c:rich>
          </c:tx>
          <c:spPr>
            <a:xfrm>
              <a:off x="2307790" y="1689258"/>
              <a:ext cx="389572" cy="314501"/>
            </a:xfrm>
            <a:solidFill>
              <a:sysClr val="window" lastClr="FFFFFF"/>
            </a:solidFill>
            <a:ln w="9525" cap="flat" cmpd="sng" algn="ctr">
              <a:solidFill>
                <a:sysClr val="windowText" lastClr="000000">
                  <a:lumMod val="25000"/>
                  <a:lumOff val="75000"/>
                </a:sysClr>
              </a:solidFill>
              <a:prstDash val="solid"/>
              <a:round/>
              <a:headEnd type="none" w="med" len="med"/>
              <a:tailEnd type="none" w="med" len="med"/>
              <a:extLst>
                <a:ext uri="{C807C97D-BFC1-408E-A445-0C87EB9F89A2}">
                  <ask:lineSketchStyleProps xmlns:ask="http://schemas.microsoft.com/office/drawing/2018/sketchyshapes" sd="0">
                    <a:custGeom>
                      <a:avLst/>
                      <a:gdLst/>
                      <a:ahLst/>
                      <a:cxnLst/>
                      <a:rect l="0" t="0" r="0" b="0"/>
                      <a:pathLst/>
                    </a:custGeom>
                    <ask:type/>
                  </ask:lineSketchStyleProps>
                </a:ext>
              </a:extLst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400" b="1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>
                    <a:gd name="adj1" fmla="val -135300"/>
                    <a:gd name="adj2" fmla="val -111020"/>
                  </a:avLst>
                </a:prstGeom>
                <a:noFill/>
                <a:ln>
                  <a:noFill/>
                </a:ln>
              </c15:spPr>
              <c15:layout>
                <c:manualLayout>
                  <c:w val="8.5518499753699559E-2"/>
                  <c:h val="0.14375236824988791"/>
                </c:manualLayout>
              </c15:layout>
              <c15:dlblFieldTable/>
              <c15:showDataLabelsRange val="0"/>
            </c:ext>
          </c:extLst>
        </c:dLbl>
      </c:pivotFmt>
      <c:pivotFmt>
        <c:idx val="6"/>
        <c:spPr>
          <a:solidFill>
            <a:schemeClr val="accent5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7.5028010638774276E-2"/>
              <c:y val="-0.33580652135458638"/>
            </c:manualLayout>
          </c:layout>
          <c:tx>
            <c:rich>
              <a:bodyPr rot="0" spcFirstLastPara="1" vertOverflow="clip" horzOverflow="clip" vert="horz" wrap="square" lIns="38100" tIns="19050" rIns="38100" bIns="19050" anchor="ctr" anchorCtr="1">
                <a:no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fld id="{ABB63BDE-B46F-42EF-B9EE-FCF82D8E275D}" type="PERCENTAGE">
                  <a:rPr lang="en-US" sz="1400" b="1" baseline="0"/>
                  <a:pPr>
                    <a:defRPr sz="1400" b="1" i="0" u="none" strike="noStrike" kern="1200" baseline="0">
                      <a:solidFill>
                        <a:schemeClr val="dk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t>[PERCENTAGE]</a:t>
                </a:fld>
                <a:endParaRPr lang="en-IN"/>
              </a:p>
            </c:rich>
          </c:tx>
          <c:spPr>
            <a:xfrm>
              <a:off x="89031" y="447087"/>
              <a:ext cx="427628" cy="326973"/>
            </a:xfrm>
            <a:solidFill>
              <a:sysClr val="window" lastClr="FFFFFF"/>
            </a:solidFill>
            <a:ln w="9525" cap="flat" cmpd="sng" algn="ctr">
              <a:solidFill>
                <a:sysClr val="windowText" lastClr="000000">
                  <a:lumMod val="25000"/>
                  <a:lumOff val="75000"/>
                </a:sysClr>
              </a:solidFill>
              <a:prstDash val="solid"/>
              <a:round/>
              <a:headEnd type="none" w="med" len="med"/>
              <a:tailEnd type="none" w="med" len="med"/>
              <a:extLst>
                <a:ext uri="{C807C97D-BFC1-408E-A445-0C87EB9F89A2}">
                  <ask:lineSketchStyleProps xmlns:ask="http://schemas.microsoft.com/office/drawing/2018/sketchyshapes" sd="0">
                    <a:custGeom>
                      <a:avLst/>
                      <a:gdLst/>
                      <a:ahLst/>
                      <a:cxnLst/>
                      <a:rect l="0" t="0" r="0" b="0"/>
                      <a:pathLst/>
                    </a:custGeom>
                    <ask:type/>
                  </ask:lineSketchStyleProps>
                </a:ext>
              </a:extLst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noAutofit/>
            </a:bodyPr>
            <a:lstStyle/>
            <a:p>
              <a:pPr>
                <a:defRPr sz="1400" b="1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>
                    <a:gd name="adj1" fmla="val 83800"/>
                    <a:gd name="adj2" fmla="val 140254"/>
                  </a:avLst>
                </a:prstGeom>
                <a:noFill/>
                <a:ln>
                  <a:noFill/>
                </a:ln>
              </c15:spPr>
              <c15:layout>
                <c:manualLayout>
                  <c:w val="9.3872738623861016E-2"/>
                  <c:h val="0.14945353705119804"/>
                </c:manualLayout>
              </c15:layout>
              <c15:dlblFieldTable/>
              <c15:showDataLabelsRange val="0"/>
            </c:ext>
          </c:extLst>
        </c:dLbl>
      </c:pivotFmt>
      <c:pivotFmt>
        <c:idx val="7"/>
        <c:spPr>
          <a:solidFill>
            <a:schemeClr val="accent6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400" b="1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8"/>
        <c:spPr>
          <a:solidFill>
            <a:schemeClr val="accent6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0.10964562590606504"/>
              <c:y val="0.31607457181813475"/>
            </c:manualLayout>
          </c:layout>
          <c:tx>
            <c:rich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fld id="{262EE975-3238-424D-A3A3-909A6B7B2A9B}" type="PERCENTAGE">
                  <a:rPr lang="en-US" baseline="0"/>
                  <a:pPr>
                    <a:defRPr sz="1400" b="1" i="0" u="none" strike="noStrike" kern="1200" baseline="0">
                      <a:solidFill>
                        <a:schemeClr val="dk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t>[PERCENTAGE]</a:t>
                </a:fld>
                <a:endParaRPr lang="en-IN"/>
              </a:p>
            </c:rich>
          </c:tx>
          <c:spPr>
            <a:xfrm>
              <a:off x="2307790" y="1689258"/>
              <a:ext cx="389572" cy="314501"/>
            </a:xfrm>
            <a:solidFill>
              <a:sysClr val="window" lastClr="FFFFFF"/>
            </a:solidFill>
            <a:ln w="9525" cap="flat" cmpd="sng" algn="ctr">
              <a:solidFill>
                <a:sysClr val="windowText" lastClr="000000">
                  <a:lumMod val="25000"/>
                  <a:lumOff val="75000"/>
                </a:sysClr>
              </a:solidFill>
              <a:prstDash val="solid"/>
              <a:round/>
              <a:headEnd type="none" w="med" len="med"/>
              <a:tailEnd type="none" w="med" len="med"/>
              <a:extLst>
                <a:ext uri="{C807C97D-BFC1-408E-A445-0C87EB9F89A2}">
                  <ask:lineSketchStyleProps xmlns:ask="http://schemas.microsoft.com/office/drawing/2018/sketchyshapes" sd="0">
                    <a:custGeom>
                      <a:avLst/>
                      <a:gdLst/>
                      <a:ahLst/>
                      <a:cxnLst/>
                      <a:rect l="0" t="0" r="0" b="0"/>
                      <a:pathLst/>
                    </a:custGeom>
                    <ask:type/>
                  </ask:lineSketchStyleProps>
                </a:ext>
              </a:extLst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400" b="1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>
                    <a:gd name="adj1" fmla="val -135300"/>
                    <a:gd name="adj2" fmla="val -111020"/>
                  </a:avLst>
                </a:prstGeom>
                <a:noFill/>
                <a:ln>
                  <a:noFill/>
                </a:ln>
              </c15:spPr>
              <c15:layout>
                <c:manualLayout>
                  <c:w val="8.5518499753699559E-2"/>
                  <c:h val="0.14375236824988791"/>
                </c:manualLayout>
              </c15:layout>
              <c15:dlblFieldTable/>
              <c15:showDataLabelsRange val="0"/>
            </c:ext>
          </c:extLst>
        </c:dLbl>
      </c:pivotFmt>
      <c:pivotFmt>
        <c:idx val="9"/>
        <c:spPr>
          <a:solidFill>
            <a:schemeClr val="accent6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7.5028010638774276E-2"/>
              <c:y val="-0.33580652135458638"/>
            </c:manualLayout>
          </c:layout>
          <c:tx>
            <c:rich>
              <a:bodyPr rot="0" spcFirstLastPara="1" vertOverflow="clip" horzOverflow="clip" vert="horz" wrap="square" lIns="38100" tIns="19050" rIns="38100" bIns="19050" anchor="ctr" anchorCtr="1">
                <a:no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fld id="{ABB63BDE-B46F-42EF-B9EE-FCF82D8E275D}" type="PERCENTAGE">
                  <a:rPr lang="en-US" sz="1400" b="1" baseline="0"/>
                  <a:pPr>
                    <a:defRPr sz="1400" b="1" i="0" u="none" strike="noStrike" kern="1200" baseline="0">
                      <a:solidFill>
                        <a:schemeClr val="dk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t>[PERCENTAGE]</a:t>
                </a:fld>
                <a:endParaRPr lang="en-IN"/>
              </a:p>
            </c:rich>
          </c:tx>
          <c:spPr>
            <a:xfrm>
              <a:off x="89031" y="447087"/>
              <a:ext cx="427628" cy="326973"/>
            </a:xfrm>
            <a:solidFill>
              <a:sysClr val="window" lastClr="FFFFFF"/>
            </a:solidFill>
            <a:ln w="9525" cap="flat" cmpd="sng" algn="ctr">
              <a:solidFill>
                <a:sysClr val="windowText" lastClr="000000">
                  <a:lumMod val="25000"/>
                  <a:lumOff val="75000"/>
                </a:sysClr>
              </a:solidFill>
              <a:prstDash val="solid"/>
              <a:round/>
              <a:headEnd type="none" w="med" len="med"/>
              <a:tailEnd type="none" w="med" len="med"/>
              <a:extLst>
                <a:ext uri="{C807C97D-BFC1-408E-A445-0C87EB9F89A2}">
                  <ask:lineSketchStyleProps xmlns:ask="http://schemas.microsoft.com/office/drawing/2018/sketchyshapes" sd="0">
                    <a:custGeom>
                      <a:avLst/>
                      <a:gdLst/>
                      <a:ahLst/>
                      <a:cxnLst/>
                      <a:rect l="0" t="0" r="0" b="0"/>
                      <a:pathLst/>
                    </a:custGeom>
                    <ask:type/>
                  </ask:lineSketchStyleProps>
                </a:ext>
              </a:extLst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noAutofit/>
            </a:bodyPr>
            <a:lstStyle/>
            <a:p>
              <a:pPr>
                <a:defRPr sz="1400" b="1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>
                    <a:gd name="adj1" fmla="val 83800"/>
                    <a:gd name="adj2" fmla="val 140254"/>
                  </a:avLst>
                </a:prstGeom>
                <a:noFill/>
                <a:ln>
                  <a:noFill/>
                </a:ln>
              </c15:spPr>
              <c15:layout>
                <c:manualLayout>
                  <c:w val="9.3872738623861016E-2"/>
                  <c:h val="0.14945353705119804"/>
                </c:manualLayout>
              </c15:layout>
              <c15:dlblFieldTable/>
              <c15:showDataLabelsRange val="0"/>
            </c:ext>
          </c:extLst>
        </c:dLbl>
      </c:pivotFmt>
      <c:pivotFmt>
        <c:idx val="10"/>
        <c:spPr>
          <a:solidFill>
            <a:schemeClr val="accent6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400" b="1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1"/>
        <c:spPr>
          <a:solidFill>
            <a:schemeClr val="accent6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0.10964562590606504"/>
              <c:y val="0.31607457181813475"/>
            </c:manualLayout>
          </c:layout>
          <c:tx>
            <c:rich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fld id="{262EE975-3238-424D-A3A3-909A6B7B2A9B}" type="PERCENTAGE">
                  <a:rPr lang="en-US" baseline="0"/>
                  <a:pPr>
                    <a:defRPr sz="1400" b="1" i="0" u="none" strike="noStrike" kern="1200" baseline="0">
                      <a:solidFill>
                        <a:schemeClr val="dk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t>[PERCENTAGE]</a:t>
                </a:fld>
                <a:endParaRPr lang="en-IN"/>
              </a:p>
            </c:rich>
          </c:tx>
          <c:spPr>
            <a:xfrm>
              <a:off x="2307790" y="1689258"/>
              <a:ext cx="389572" cy="314501"/>
            </a:xfrm>
            <a:solidFill>
              <a:sysClr val="window" lastClr="FFFFFF"/>
            </a:solidFill>
            <a:ln w="9525" cap="flat" cmpd="sng" algn="ctr">
              <a:solidFill>
                <a:sysClr val="windowText" lastClr="000000">
                  <a:lumMod val="25000"/>
                  <a:lumOff val="75000"/>
                </a:sysClr>
              </a:solidFill>
              <a:prstDash val="solid"/>
              <a:round/>
              <a:headEnd type="none" w="med" len="med"/>
              <a:tailEnd type="none" w="med" len="med"/>
              <a:extLst>
                <a:ext uri="{C807C97D-BFC1-408E-A445-0C87EB9F89A2}">
                  <ask:lineSketchStyleProps xmlns:ask="http://schemas.microsoft.com/office/drawing/2018/sketchyshapes" sd="0">
                    <a:custGeom>
                      <a:avLst/>
                      <a:gdLst/>
                      <a:ahLst/>
                      <a:cxnLst/>
                      <a:rect l="0" t="0" r="0" b="0"/>
                      <a:pathLst/>
                    </a:custGeom>
                    <ask:type/>
                  </ask:lineSketchStyleProps>
                </a:ext>
              </a:extLst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400" b="1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>
                    <a:gd name="adj1" fmla="val -135300"/>
                    <a:gd name="adj2" fmla="val -111020"/>
                  </a:avLst>
                </a:prstGeom>
                <a:noFill/>
                <a:ln>
                  <a:noFill/>
                </a:ln>
              </c15:spPr>
              <c15:layout>
                <c:manualLayout>
                  <c:w val="8.5518499753699559E-2"/>
                  <c:h val="0.14375236824988791"/>
                </c:manualLayout>
              </c15:layout>
              <c15:dlblFieldTable/>
              <c15:showDataLabelsRange val="0"/>
            </c:ext>
          </c:extLst>
        </c:dLbl>
      </c:pivotFmt>
      <c:pivotFmt>
        <c:idx val="12"/>
        <c:spPr>
          <a:solidFill>
            <a:schemeClr val="accent6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7.5028010638774276E-2"/>
              <c:y val="-0.33580652135458638"/>
            </c:manualLayout>
          </c:layout>
          <c:tx>
            <c:rich>
              <a:bodyPr rot="0" spcFirstLastPara="1" vertOverflow="clip" horzOverflow="clip" vert="horz" wrap="square" lIns="38100" tIns="19050" rIns="38100" bIns="19050" anchor="ctr" anchorCtr="1">
                <a:no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fld id="{ABB63BDE-B46F-42EF-B9EE-FCF82D8E275D}" type="PERCENTAGE">
                  <a:rPr lang="en-US" sz="1400" b="1" baseline="0"/>
                  <a:pPr>
                    <a:defRPr sz="1400" b="1" i="0" u="none" strike="noStrike" kern="1200" baseline="0">
                      <a:solidFill>
                        <a:schemeClr val="dk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t>[PERCENTAGE]</a:t>
                </a:fld>
                <a:endParaRPr lang="en-IN"/>
              </a:p>
            </c:rich>
          </c:tx>
          <c:spPr>
            <a:xfrm>
              <a:off x="89031" y="447087"/>
              <a:ext cx="427628" cy="326973"/>
            </a:xfrm>
            <a:solidFill>
              <a:sysClr val="window" lastClr="FFFFFF"/>
            </a:solidFill>
            <a:ln w="9525" cap="flat" cmpd="sng" algn="ctr">
              <a:solidFill>
                <a:sysClr val="windowText" lastClr="000000">
                  <a:lumMod val="25000"/>
                  <a:lumOff val="75000"/>
                </a:sysClr>
              </a:solidFill>
              <a:prstDash val="solid"/>
              <a:round/>
              <a:headEnd type="none" w="med" len="med"/>
              <a:tailEnd type="none" w="med" len="med"/>
              <a:extLst>
                <a:ext uri="{C807C97D-BFC1-408E-A445-0C87EB9F89A2}">
                  <ask:lineSketchStyleProps xmlns:ask="http://schemas.microsoft.com/office/drawing/2018/sketchyshapes" sd="0">
                    <a:custGeom>
                      <a:avLst/>
                      <a:gdLst/>
                      <a:ahLst/>
                      <a:cxnLst/>
                      <a:rect l="0" t="0" r="0" b="0"/>
                      <a:pathLst/>
                    </a:custGeom>
                    <ask:type/>
                  </ask:lineSketchStyleProps>
                </a:ext>
              </a:extLst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noAutofit/>
            </a:bodyPr>
            <a:lstStyle/>
            <a:p>
              <a:pPr>
                <a:defRPr sz="1400" b="1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>
                    <a:gd name="adj1" fmla="val 83800"/>
                    <a:gd name="adj2" fmla="val 140254"/>
                  </a:avLst>
                </a:prstGeom>
                <a:noFill/>
                <a:ln>
                  <a:noFill/>
                </a:ln>
              </c15:spPr>
              <c15:layout>
                <c:manualLayout>
                  <c:w val="9.3872738623861016E-2"/>
                  <c:h val="0.14945353705119804"/>
                </c:manualLayout>
              </c15:layout>
              <c15:dlblFieldTable/>
              <c15:showDataLabelsRange val="0"/>
            </c:ext>
          </c:extLst>
        </c:dLbl>
      </c:pivotFmt>
    </c:pivotFmts>
    <c:plotArea>
      <c:layout>
        <c:manualLayout>
          <c:layoutTarget val="inner"/>
          <c:xMode val="edge"/>
          <c:yMode val="edge"/>
          <c:x val="0.11550968830455111"/>
          <c:y val="0.21312964214127145"/>
          <c:w val="0.35020705156856552"/>
          <c:h val="0.71655964251226367"/>
        </c:manualLayout>
      </c:layout>
      <c:doughnutChart>
        <c:varyColors val="1"/>
        <c:ser>
          <c:idx val="0"/>
          <c:order val="0"/>
          <c:tx>
            <c:strRef>
              <c:f>'Descriptive Data'!$B$36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AC4D-4608-9A50-AF5454C7969C}"/>
              </c:ext>
            </c:extLst>
          </c:dPt>
          <c:dPt>
            <c:idx val="1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AC4D-4608-9A50-AF5454C7969C}"/>
              </c:ext>
            </c:extLst>
          </c:dPt>
          <c:dLbls>
            <c:dLbl>
              <c:idx val="0"/>
              <c:layout>
                <c:manualLayout>
                  <c:x val="0.10964562590606504"/>
                  <c:y val="0.31607457181813475"/>
                </c:manualLayout>
              </c:layout>
              <c:tx>
                <c:rich>
                  <a:bodyPr rot="0" spcFirstLastPara="1" vertOverflow="clip" horzOverflow="clip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1400" b="1" i="0" u="none" strike="noStrike" kern="1200" baseline="0">
                        <a:solidFill>
                          <a:schemeClr val="dk1">
                            <a:lumMod val="65000"/>
                            <a:lumOff val="35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262EE975-3238-424D-A3A3-909A6B7B2A9B}" type="PERCENTAGE">
                      <a:rPr lang="en-US" baseline="0"/>
                      <a:pPr>
                        <a:defRPr sz="1400" b="1"/>
                      </a:pPr>
                      <a:t>[PERCENTAGE]</a:t>
                    </a:fld>
                    <a:endParaRPr lang="en-IN"/>
                  </a:p>
                </c:rich>
              </c:tx>
              <c:spPr>
                <a:xfrm>
                  <a:off x="2307790" y="1689258"/>
                  <a:ext cx="389572" cy="314501"/>
                </a:xfrm>
                <a:solidFill>
                  <a:sysClr val="window" lastClr="FFFFFF"/>
                </a:solidFill>
                <a:ln w="9525" cap="flat" cmpd="sng" algn="ctr">
                  <a:solidFill>
                    <a:sysClr val="windowText" lastClr="000000">
                      <a:lumMod val="25000"/>
                      <a:lumOff val="75000"/>
                    </a:sysClr>
                  </a:solidFill>
                  <a:prstDash val="solid"/>
                  <a:round/>
                  <a:headEnd type="none" w="med" len="med"/>
                  <a:tailEnd type="none" w="med" len="med"/>
                  <a:extLst>
                    <a:ext uri="{C807C97D-BFC1-408E-A445-0C87EB9F89A2}">
                      <ask:lineSketchStyleProps xmlns:ask="http://schemas.microsoft.com/office/drawing/2018/sketchyshapes" sd="0">
                        <a:custGeom>
                          <a:avLst/>
                          <a:gdLst/>
                          <a:ahLst/>
                          <a:cxnLst/>
                          <a:rect l="0" t="0" r="0" b="0"/>
                          <a:pathLst/>
                        </a:custGeom>
                        <ask:type/>
                      </ask:lineSketchStyleProps>
                    </a:ext>
                  </a:extLst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400" b="1" i="0" u="none" strike="noStrike" kern="1200" baseline="0">
                      <a:solidFill>
                        <a:schemeClr val="dk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>
                        <a:gd name="adj1" fmla="val -135300"/>
                        <a:gd name="adj2" fmla="val -111020"/>
                      </a:avLst>
                    </a:prstGeom>
                    <a:noFill/>
                    <a:ln>
                      <a:noFill/>
                    </a:ln>
                  </c15:spPr>
                  <c15:layout>
                    <c:manualLayout>
                      <c:w val="8.5518499753699559E-2"/>
                      <c:h val="0.14375236824988791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AC4D-4608-9A50-AF5454C7969C}"/>
                </c:ext>
              </c:extLst>
            </c:dLbl>
            <c:dLbl>
              <c:idx val="1"/>
              <c:layout>
                <c:manualLayout>
                  <c:x val="-7.5028010638774276E-2"/>
                  <c:y val="-0.33580652135458638"/>
                </c:manualLayout>
              </c:layout>
              <c:tx>
                <c:rich>
                  <a:bodyPr rot="0" spcFirstLastPara="1" vertOverflow="clip" horzOverflow="clip" vert="horz" wrap="square" lIns="38100" tIns="19050" rIns="38100" bIns="19050" anchor="ctr" anchorCtr="1">
                    <a:noAutofit/>
                  </a:bodyPr>
                  <a:lstStyle/>
                  <a:p>
                    <a:pPr>
                      <a:defRPr sz="1400" b="1" i="0" u="none" strike="noStrike" kern="1200" baseline="0">
                        <a:solidFill>
                          <a:schemeClr val="dk1">
                            <a:lumMod val="65000"/>
                            <a:lumOff val="35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ABB63BDE-B46F-42EF-B9EE-FCF82D8E275D}" type="PERCENTAGE">
                      <a:rPr lang="en-US" sz="1400" b="1" baseline="0"/>
                      <a:pPr>
                        <a:defRPr sz="1400" b="1"/>
                      </a:pPr>
                      <a:t>[PERCENTAGE]</a:t>
                    </a:fld>
                    <a:endParaRPr lang="en-IN"/>
                  </a:p>
                </c:rich>
              </c:tx>
              <c:spPr>
                <a:xfrm>
                  <a:off x="89031" y="447087"/>
                  <a:ext cx="427628" cy="326973"/>
                </a:xfrm>
                <a:solidFill>
                  <a:sysClr val="window" lastClr="FFFFFF"/>
                </a:solidFill>
                <a:ln w="9525" cap="flat" cmpd="sng" algn="ctr">
                  <a:solidFill>
                    <a:sysClr val="windowText" lastClr="000000">
                      <a:lumMod val="25000"/>
                      <a:lumOff val="75000"/>
                    </a:sysClr>
                  </a:solidFill>
                  <a:prstDash val="solid"/>
                  <a:round/>
                  <a:headEnd type="none" w="med" len="med"/>
                  <a:tailEnd type="none" w="med" len="med"/>
                  <a:extLst>
                    <a:ext uri="{C807C97D-BFC1-408E-A445-0C87EB9F89A2}">
                      <ask:lineSketchStyleProps xmlns:ask="http://schemas.microsoft.com/office/drawing/2018/sketchyshapes" sd="0">
                        <a:custGeom>
                          <a:avLst/>
                          <a:gdLst/>
                          <a:ahLst/>
                          <a:cxnLst/>
                          <a:rect l="0" t="0" r="0" b="0"/>
                          <a:pathLst/>
                        </a:custGeom>
                        <ask:type/>
                      </ask:lineSketchStyleProps>
                    </a:ext>
                  </a:extLst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400" b="1" i="0" u="none" strike="noStrike" kern="1200" baseline="0">
                      <a:solidFill>
                        <a:schemeClr val="dk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>
                        <a:gd name="adj1" fmla="val 83800"/>
                        <a:gd name="adj2" fmla="val 140254"/>
                      </a:avLst>
                    </a:prstGeom>
                    <a:noFill/>
                    <a:ln>
                      <a:noFill/>
                    </a:ln>
                  </c15:spPr>
                  <c15:layout>
                    <c:manualLayout>
                      <c:w val="9.3872738623861016E-2"/>
                      <c:h val="0.14945353705119804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AC4D-4608-9A50-AF5454C7969C}"/>
                </c:ext>
              </c:extLst>
            </c:dLbl>
            <c:spPr>
              <a:solidFill>
                <a:sysClr val="window" lastClr="FFFFFF"/>
              </a:solidFill>
              <a:ln>
                <a:solidFill>
                  <a:sysClr val="windowText" lastClr="000000">
                    <a:lumMod val="25000"/>
                    <a:lumOff val="75000"/>
                  </a:sys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strRef>
              <c:f>'Descriptive Data'!$A$37:$A$39</c:f>
              <c:strCache>
                <c:ptCount val="2"/>
                <c:pt idx="0">
                  <c:v>No</c:v>
                </c:pt>
                <c:pt idx="1">
                  <c:v>Yes</c:v>
                </c:pt>
              </c:strCache>
            </c:strRef>
          </c:cat>
          <c:val>
            <c:numRef>
              <c:f>'Descriptive Data'!$B$37:$B$39</c:f>
              <c:numCache>
                <c:formatCode>General</c:formatCode>
                <c:ptCount val="2"/>
                <c:pt idx="0">
                  <c:v>2.7528980397687222</c:v>
                </c:pt>
                <c:pt idx="1">
                  <c:v>3.2880048959608312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AC4D-4608-9A50-AF5454C7969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5"/>
      </c:doughnutChart>
      <c:spPr>
        <a:noFill/>
        <a:ln>
          <a:noFill/>
        </a:ln>
        <a:effectLst/>
      </c:spPr>
    </c:plotArea>
    <c:legend>
      <c:legendPos val="r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legendEntry>
      <c:layout>
        <c:manualLayout>
          <c:xMode val="edge"/>
          <c:yMode val="edge"/>
          <c:x val="0.62509941420279236"/>
          <c:y val="0.39653220167244896"/>
          <c:w val="0.3424632638979484"/>
          <c:h val="0.2953723520040684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>
      <a:outerShdw blurRad="63500" sx="102000" sy="102000" algn="ctr" rotWithShape="0">
        <a:prstClr val="black">
          <a:alpha val="40000"/>
        </a:prstClr>
      </a:outerShdw>
    </a:effectLst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withinLinearReversed" id="25">
  <a:schemeClr val="accent5"/>
</cs:colorStyle>
</file>

<file path=ppt/charts/colors2.xml><?xml version="1.0" encoding="utf-8"?>
<cs:colorStyle xmlns:cs="http://schemas.microsoft.com/office/drawing/2012/chartStyle" xmlns:a="http://schemas.openxmlformats.org/drawingml/2006/main" meth="withinLinear" id="18">
  <a:schemeClr val="accent5"/>
</cs:colorStyle>
</file>

<file path=ppt/charts/colors3.xml><?xml version="1.0" encoding="utf-8"?>
<cs:colorStyle xmlns:cs="http://schemas.microsoft.com/office/drawing/2012/chartStyle" xmlns:a="http://schemas.openxmlformats.org/drawingml/2006/main" meth="withinLinear" id="18">
  <a:schemeClr val="accent5"/>
</cs:colorStyle>
</file>

<file path=ppt/charts/colors4.xml><?xml version="1.0" encoding="utf-8"?>
<cs:colorStyle xmlns:cs="http://schemas.microsoft.com/office/drawing/2012/chartStyle" xmlns:a="http://schemas.openxmlformats.org/drawingml/2006/main" meth="withinLinear" id="18">
  <a:schemeClr val="accent5"/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253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2" name="Google Shape;5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1" name="Google Shape;6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9" name="Google Shape;6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3" name="Google Shape;8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>
          <a:extLst>
            <a:ext uri="{FF2B5EF4-FFF2-40B4-BE49-F238E27FC236}">
              <a16:creationId xmlns:a16="http://schemas.microsoft.com/office/drawing/2014/main" id="{8FF526D6-9E43-0FAC-B2B2-A821DC14B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5:notes">
            <a:extLst>
              <a:ext uri="{FF2B5EF4-FFF2-40B4-BE49-F238E27FC236}">
                <a16:creationId xmlns:a16="http://schemas.microsoft.com/office/drawing/2014/main" id="{010D3201-7386-C3B6-975E-BBCA9679D4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3" name="Google Shape;83;p5:notes">
            <a:extLst>
              <a:ext uri="{FF2B5EF4-FFF2-40B4-BE49-F238E27FC236}">
                <a16:creationId xmlns:a16="http://schemas.microsoft.com/office/drawing/2014/main" id="{3217AC9C-831B-CC06-4187-591774930AC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629785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>
          <a:extLst>
            <a:ext uri="{FF2B5EF4-FFF2-40B4-BE49-F238E27FC236}">
              <a16:creationId xmlns:a16="http://schemas.microsoft.com/office/drawing/2014/main" id="{225656DB-5024-0211-1808-AA527FC363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5:notes">
            <a:extLst>
              <a:ext uri="{FF2B5EF4-FFF2-40B4-BE49-F238E27FC236}">
                <a16:creationId xmlns:a16="http://schemas.microsoft.com/office/drawing/2014/main" id="{22A5433C-89FF-0A61-661F-B40B284FC0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3" name="Google Shape;83;p5:notes">
            <a:extLst>
              <a:ext uri="{FF2B5EF4-FFF2-40B4-BE49-F238E27FC236}">
                <a16:creationId xmlns:a16="http://schemas.microsoft.com/office/drawing/2014/main" id="{D7D8F067-584F-754A-C2ED-5C8CB7646D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136775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>
          <a:extLst>
            <a:ext uri="{FF2B5EF4-FFF2-40B4-BE49-F238E27FC236}">
              <a16:creationId xmlns:a16="http://schemas.microsoft.com/office/drawing/2014/main" id="{5C4807B9-C1F0-DF9E-C190-13C087694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5:notes">
            <a:extLst>
              <a:ext uri="{FF2B5EF4-FFF2-40B4-BE49-F238E27FC236}">
                <a16:creationId xmlns:a16="http://schemas.microsoft.com/office/drawing/2014/main" id="{AC901890-E5E6-2E41-8CBD-AAD7A701FF3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3" name="Google Shape;83;p5:notes">
            <a:extLst>
              <a:ext uri="{FF2B5EF4-FFF2-40B4-BE49-F238E27FC236}">
                <a16:creationId xmlns:a16="http://schemas.microsoft.com/office/drawing/2014/main" id="{E4B33304-B961-416D-537E-B667C8EAFA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9295180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6" name="Google Shape;7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>
          <a:extLst>
            <a:ext uri="{FF2B5EF4-FFF2-40B4-BE49-F238E27FC236}">
              <a16:creationId xmlns:a16="http://schemas.microsoft.com/office/drawing/2014/main" id="{38F61780-CD45-2E7E-C428-D8A7655342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5:notes">
            <a:extLst>
              <a:ext uri="{FF2B5EF4-FFF2-40B4-BE49-F238E27FC236}">
                <a16:creationId xmlns:a16="http://schemas.microsoft.com/office/drawing/2014/main" id="{741E29C1-CF42-2B78-15A8-9A04606823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3" name="Google Shape;83;p5:notes">
            <a:extLst>
              <a:ext uri="{FF2B5EF4-FFF2-40B4-BE49-F238E27FC236}">
                <a16:creationId xmlns:a16="http://schemas.microsoft.com/office/drawing/2014/main" id="{E5B06D5D-B8DF-7CFE-B8C7-E5102CB8D21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9768980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1" name="Google Shape;9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7" name="Google Shape;10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5" name="Google Shape;11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adc35bdfb2_1_1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3" name="Google Shape;123;g3adc35bdfb2_1_1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0B1578A4-43D1-3ACB-F055-E9A25F6D37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6:notes">
            <a:extLst>
              <a:ext uri="{FF2B5EF4-FFF2-40B4-BE49-F238E27FC236}">
                <a16:creationId xmlns:a16="http://schemas.microsoft.com/office/drawing/2014/main" id="{664E46D2-C031-6702-6EA8-DD87A09907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1" name="Google Shape;91;p6:notes">
            <a:extLst>
              <a:ext uri="{FF2B5EF4-FFF2-40B4-BE49-F238E27FC236}">
                <a16:creationId xmlns:a16="http://schemas.microsoft.com/office/drawing/2014/main" id="{889F34E1-1737-B2DC-303B-7D9EC40024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3545445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1" name="Google Shape;13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8" name="Google Shape;13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5" name="Google Shape;14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2" name="Google Shape;15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9" name="Google Shape;159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1" name="Google Shape;171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13717016" cy="10287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82901" y="2717795"/>
            <a:ext cx="7963299" cy="2273300"/>
          </a:xfrm>
        </p:spPr>
        <p:txBody>
          <a:bodyPr anchor="b">
            <a:noAutofit/>
          </a:bodyPr>
          <a:lstStyle>
            <a:lvl1pPr algn="ctr">
              <a:defRPr sz="72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82901" y="5397491"/>
            <a:ext cx="7963299" cy="2066477"/>
          </a:xfrm>
        </p:spPr>
        <p:txBody>
          <a:bodyPr anchor="t">
            <a:normAutofit/>
          </a:bodyPr>
          <a:lstStyle>
            <a:lvl1pPr marL="0" indent="0" algn="ctr">
              <a:buNone/>
              <a:defRPr sz="3000">
                <a:solidFill>
                  <a:schemeClr val="tx1"/>
                </a:solidFill>
              </a:defRPr>
            </a:lvl1pPr>
            <a:lvl2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429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114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800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486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098126" y="7581903"/>
            <a:ext cx="1009914" cy="419100"/>
          </a:xfrm>
        </p:spPr>
        <p:txBody>
          <a:bodyPr/>
          <a:lstStyle/>
          <a:p>
            <a:fld id="{48A87A34-81AB-432B-8DAE-1953F412C126}" type="datetimeFigureOut">
              <a:rPr lang="en-US" smtClean="0"/>
              <a:t>1/12/2026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82901" y="7581903"/>
            <a:ext cx="6097290" cy="4191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25976" y="7581903"/>
            <a:ext cx="620225" cy="419100"/>
          </a:xfrm>
        </p:spPr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3029738" y="5206994"/>
            <a:ext cx="76696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35249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917698" y="3534390"/>
            <a:ext cx="989330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91759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17698" y="2462120"/>
            <a:ext cx="9893301" cy="2733771"/>
          </a:xfrm>
        </p:spPr>
        <p:txBody>
          <a:bodyPr anchor="b">
            <a:normAutofit/>
          </a:bodyPr>
          <a:lstStyle>
            <a:lvl1pPr algn="ctr">
              <a:defRPr sz="6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17698" y="5602289"/>
            <a:ext cx="9893301" cy="1635023"/>
          </a:xfrm>
        </p:spPr>
        <p:txBody>
          <a:bodyPr anchor="t">
            <a:normAutofit/>
          </a:bodyPr>
          <a:lstStyle>
            <a:lvl1pPr marL="0" indent="0" algn="ctr">
              <a:buNone/>
              <a:defRPr sz="3600">
                <a:solidFill>
                  <a:schemeClr val="tx1"/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917700" y="5399088"/>
            <a:ext cx="989330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8847914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917698" y="3534390"/>
            <a:ext cx="989330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65299" y="1373006"/>
            <a:ext cx="10198101" cy="195580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65299" y="3730752"/>
            <a:ext cx="5006340" cy="517093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67728" y="3730752"/>
            <a:ext cx="5006340" cy="517093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10771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65302" y="3987800"/>
            <a:ext cx="5006340" cy="864393"/>
          </a:xfrm>
        </p:spPr>
        <p:txBody>
          <a:bodyPr anchor="b">
            <a:noAutofit/>
          </a:bodyPr>
          <a:lstStyle>
            <a:lvl1pPr marL="0" indent="0">
              <a:buNone/>
              <a:defRPr sz="3600" b="0">
                <a:solidFill>
                  <a:schemeClr val="accent1"/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765302" y="4864895"/>
            <a:ext cx="5006340" cy="405993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962748" y="3987800"/>
            <a:ext cx="5006340" cy="864393"/>
          </a:xfrm>
        </p:spPr>
        <p:txBody>
          <a:bodyPr anchor="b">
            <a:noAutofit/>
          </a:bodyPr>
          <a:lstStyle>
            <a:lvl1pPr marL="0" indent="0">
              <a:buNone/>
              <a:defRPr sz="3600" b="0">
                <a:solidFill>
                  <a:schemeClr val="accent1"/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962748" y="4864895"/>
            <a:ext cx="5006340" cy="405993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1/12/2026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917699" y="3532005"/>
            <a:ext cx="989330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156634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65298" y="1373006"/>
            <a:ext cx="10198103" cy="195580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1/12/2026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917699" y="3532005"/>
            <a:ext cx="989330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7647458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1/12/2026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7883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65297" y="2082801"/>
            <a:ext cx="3805197" cy="2057400"/>
          </a:xfrm>
        </p:spPr>
        <p:txBody>
          <a:bodyPr anchor="b">
            <a:normAutofit/>
          </a:bodyPr>
          <a:lstStyle>
            <a:lvl1pPr algn="ctr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80094" y="1473199"/>
            <a:ext cx="5783309" cy="734060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65297" y="4546598"/>
            <a:ext cx="3805197" cy="3657606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917699" y="4368800"/>
            <a:ext cx="350039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2305203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65298" y="2825748"/>
            <a:ext cx="5448303" cy="2057400"/>
          </a:xfrm>
        </p:spPr>
        <p:txBody>
          <a:bodyPr anchor="b">
            <a:normAutofit/>
          </a:bodyPr>
          <a:lstStyle>
            <a:lvl1pPr algn="ctr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774604" y="1549400"/>
            <a:ext cx="4394195" cy="7188204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  <a:lvl2pPr marL="685800" indent="0">
              <a:buNone/>
              <a:defRPr sz="2400"/>
            </a:lvl2pPr>
            <a:lvl3pPr marL="1371600" indent="0">
              <a:buNone/>
              <a:defRPr sz="2400"/>
            </a:lvl3pPr>
            <a:lvl4pPr marL="2057400" indent="0">
              <a:buNone/>
              <a:defRPr sz="2400"/>
            </a:lvl4pPr>
            <a:lvl5pPr marL="2743200" indent="0">
              <a:buNone/>
              <a:defRPr sz="2400"/>
            </a:lvl5pPr>
            <a:lvl6pPr marL="3429000" indent="0">
              <a:buNone/>
              <a:defRPr sz="2400"/>
            </a:lvl6pPr>
            <a:lvl7pPr marL="4114800" indent="0">
              <a:buNone/>
              <a:defRPr sz="2400"/>
            </a:lvl7pPr>
            <a:lvl8pPr marL="4800600" indent="0">
              <a:buNone/>
              <a:defRPr sz="2400"/>
            </a:lvl8pPr>
            <a:lvl9pPr marL="548640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65298" y="4883148"/>
            <a:ext cx="5448302" cy="2743200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804180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65299" y="7223122"/>
            <a:ext cx="10198101" cy="850107"/>
          </a:xfrm>
        </p:spPr>
        <p:txBody>
          <a:bodyPr anchor="b">
            <a:normAutofit/>
          </a:bodyPr>
          <a:lstStyle>
            <a:lvl1pPr algn="ctr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39390" y="1549400"/>
            <a:ext cx="10637223" cy="5041904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  <a:lvl2pPr marL="685800" indent="0">
              <a:buNone/>
              <a:defRPr sz="2400"/>
            </a:lvl2pPr>
            <a:lvl3pPr marL="1371600" indent="0">
              <a:buNone/>
              <a:defRPr sz="2400"/>
            </a:lvl3pPr>
            <a:lvl4pPr marL="2057400" indent="0">
              <a:buNone/>
              <a:defRPr sz="2400"/>
            </a:lvl4pPr>
            <a:lvl5pPr marL="2743200" indent="0">
              <a:buNone/>
              <a:defRPr sz="2400"/>
            </a:lvl5pPr>
            <a:lvl6pPr marL="3429000" indent="0">
              <a:buNone/>
              <a:defRPr sz="2400"/>
            </a:lvl6pPr>
            <a:lvl7pPr marL="4114800" indent="0">
              <a:buNone/>
              <a:defRPr sz="2400"/>
            </a:lvl7pPr>
            <a:lvl8pPr marL="4800600" indent="0">
              <a:buNone/>
              <a:defRPr sz="2400"/>
            </a:lvl8pPr>
            <a:lvl9pPr marL="548640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65299" y="8073230"/>
            <a:ext cx="10198101" cy="740568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092344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65299" y="1360310"/>
            <a:ext cx="10198101" cy="4646790"/>
          </a:xfrm>
        </p:spPr>
        <p:txBody>
          <a:bodyPr anchor="ctr">
            <a:normAutofit/>
          </a:bodyPr>
          <a:lstStyle>
            <a:lvl1pPr algn="ctr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65298" y="6413499"/>
            <a:ext cx="10198104" cy="2400303"/>
          </a:xfrm>
        </p:spPr>
        <p:txBody>
          <a:bodyPr anchor="ctr">
            <a:normAutofit/>
          </a:bodyPr>
          <a:lstStyle>
            <a:lvl1pPr marL="0" indent="0" algn="ctr">
              <a:buNone/>
              <a:defRPr sz="3000">
                <a:solidFill>
                  <a:schemeClr val="tx1"/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917698" y="6210299"/>
            <a:ext cx="990963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369560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01500" y="1473198"/>
            <a:ext cx="9600375" cy="3556002"/>
          </a:xfrm>
        </p:spPr>
        <p:txBody>
          <a:bodyPr anchor="ctr">
            <a:normAutofit/>
          </a:bodyPr>
          <a:lstStyle>
            <a:lvl1pPr algn="ctr">
              <a:defRPr sz="48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00300" y="5029199"/>
            <a:ext cx="8839197" cy="9779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700"/>
            </a:lvl1pPr>
            <a:lvl2pPr marL="685800" indent="0">
              <a:buFontTx/>
              <a:buNone/>
              <a:defRPr/>
            </a:lvl2pPr>
            <a:lvl3pPr marL="1371600" indent="0">
              <a:buFontTx/>
              <a:buNone/>
              <a:defRPr/>
            </a:lvl3pPr>
            <a:lvl4pPr marL="2057400" indent="0">
              <a:buFontTx/>
              <a:buNone/>
              <a:defRPr/>
            </a:lvl4pPr>
            <a:lvl5pPr marL="27432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65295" y="6515101"/>
            <a:ext cx="10198107" cy="2298701"/>
          </a:xfrm>
        </p:spPr>
        <p:txBody>
          <a:bodyPr anchor="ctr">
            <a:normAutofit/>
          </a:bodyPr>
          <a:lstStyle>
            <a:lvl1pPr marL="0" indent="0" algn="ctr">
              <a:buNone/>
              <a:defRPr sz="3000">
                <a:solidFill>
                  <a:schemeClr val="tx1"/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274954" y="1358043"/>
            <a:ext cx="685979" cy="877164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/>
          <a:p>
            <a:pPr lvl="0"/>
            <a:r>
              <a:rPr lang="en-US" sz="108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50255" y="4241805"/>
            <a:ext cx="685979" cy="877164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/>
          <a:p>
            <a:pPr lvl="0" algn="r"/>
            <a:r>
              <a:rPr lang="en-US" sz="108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917699" y="6210299"/>
            <a:ext cx="989330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1408206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65304" y="4962872"/>
            <a:ext cx="10198092" cy="2203200"/>
          </a:xfrm>
        </p:spPr>
        <p:txBody>
          <a:bodyPr anchor="b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65302" y="7166072"/>
            <a:ext cx="10198095" cy="1290600"/>
          </a:xfrm>
        </p:spPr>
        <p:txBody>
          <a:bodyPr anchor="t">
            <a:normAutofit/>
          </a:bodyPr>
          <a:lstStyle>
            <a:lvl1pPr marL="0" indent="0" algn="l">
              <a:buNone/>
              <a:defRPr sz="2700">
                <a:solidFill>
                  <a:schemeClr val="tx1"/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68712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14124" y="1473198"/>
            <a:ext cx="9487752" cy="3365502"/>
          </a:xfrm>
        </p:spPr>
        <p:txBody>
          <a:bodyPr anchor="ctr">
            <a:normAutofit/>
          </a:bodyPr>
          <a:lstStyle>
            <a:lvl1pPr algn="ctr">
              <a:defRPr sz="48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765302" y="5458968"/>
            <a:ext cx="10198095" cy="1330452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3000">
                <a:solidFill>
                  <a:schemeClr val="tx1"/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65298" y="6794500"/>
            <a:ext cx="10198104" cy="2019300"/>
          </a:xfrm>
        </p:spPr>
        <p:txBody>
          <a:bodyPr anchor="t">
            <a:normAutofit/>
          </a:bodyPr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6858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1317091" y="1345343"/>
            <a:ext cx="685979" cy="877164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/>
          <a:p>
            <a:pPr lvl="0"/>
            <a:r>
              <a:rPr lang="en-US" sz="12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74695" y="3911592"/>
            <a:ext cx="685979" cy="877164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/>
          <a:p>
            <a:pPr lvl="0" algn="r"/>
            <a:r>
              <a:rPr lang="en-US" sz="12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917699" y="5143500"/>
            <a:ext cx="989330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3708945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65298" y="1473197"/>
            <a:ext cx="10198101" cy="3441701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48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765302" y="5349240"/>
            <a:ext cx="10198095" cy="1357884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3000">
                <a:solidFill>
                  <a:schemeClr val="tx1"/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65299" y="6705601"/>
            <a:ext cx="10198101" cy="2108201"/>
          </a:xfrm>
        </p:spPr>
        <p:txBody>
          <a:bodyPr anchor="t">
            <a:normAutofit/>
          </a:bodyPr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6858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917704" y="5143500"/>
            <a:ext cx="9909632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3276272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765298" y="3735203"/>
            <a:ext cx="10198104" cy="507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917699" y="3532005"/>
            <a:ext cx="9909636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6517833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35001" y="1360310"/>
            <a:ext cx="2428395" cy="745349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765301" y="1360310"/>
            <a:ext cx="7373264" cy="745349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9368268" y="1360310"/>
            <a:ext cx="0" cy="745349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3011903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" y="0"/>
            <a:ext cx="13728701" cy="10287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65299" y="1373006"/>
            <a:ext cx="10198101" cy="1955801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65298" y="3735203"/>
            <a:ext cx="10198104" cy="516749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535006" y="8940800"/>
            <a:ext cx="1722425" cy="419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8A87A34-81AB-432B-8DAE-1953F412C126}" type="datetimeFigureOut">
              <a:rPr lang="en-US" smtClean="0"/>
              <a:pPr/>
              <a:t>1/12/2026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65298" y="8940800"/>
            <a:ext cx="7657001" cy="419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5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70137" y="8940800"/>
            <a:ext cx="593265" cy="419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686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90" r:id="rId1"/>
    <p:sldLayoutId id="2147484091" r:id="rId2"/>
    <p:sldLayoutId id="2147484092" r:id="rId3"/>
    <p:sldLayoutId id="2147484093" r:id="rId4"/>
    <p:sldLayoutId id="2147484094" r:id="rId5"/>
    <p:sldLayoutId id="2147484095" r:id="rId6"/>
    <p:sldLayoutId id="2147484096" r:id="rId7"/>
    <p:sldLayoutId id="2147484097" r:id="rId8"/>
    <p:sldLayoutId id="2147484098" r:id="rId9"/>
    <p:sldLayoutId id="2147484099" r:id="rId10"/>
    <p:sldLayoutId id="2147484100" r:id="rId11"/>
    <p:sldLayoutId id="2147484101" r:id="rId12"/>
    <p:sldLayoutId id="2147484102" r:id="rId13"/>
    <p:sldLayoutId id="2147484103" r:id="rId14"/>
    <p:sldLayoutId id="2147484104" r:id="rId15"/>
    <p:sldLayoutId id="2147484105" r:id="rId16"/>
    <p:sldLayoutId id="2147484106" r:id="rId17"/>
  </p:sldLayoutIdLst>
  <p:hf sldNum="0" hdr="0" ftr="0" dt="0"/>
  <p:txStyles>
    <p:titleStyle>
      <a:lvl1pPr algn="ctr" defTabSz="685800" rtl="0" eaLnBrk="1" latinLnBrk="0" hangingPunct="1">
        <a:spcBef>
          <a:spcPct val="0"/>
        </a:spcBef>
        <a:buNone/>
        <a:defRPr sz="6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428625" indent="-428625" algn="l" defTabSz="685800" rtl="0" eaLnBrk="1" latinLnBrk="0" hangingPunct="1">
        <a:spcBef>
          <a:spcPct val="20000"/>
        </a:spcBef>
        <a:spcAft>
          <a:spcPts val="900"/>
        </a:spcAft>
        <a:buClr>
          <a:schemeClr val="accent1"/>
        </a:buClr>
        <a:buSzPct val="115000"/>
        <a:buFont typeface="Arial"/>
        <a:buChar char="•"/>
        <a:defRPr sz="3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1114425" indent="-428625" algn="l" defTabSz="685800" rtl="0" eaLnBrk="1" latinLnBrk="0" hangingPunct="1">
        <a:spcBef>
          <a:spcPct val="20000"/>
        </a:spcBef>
        <a:spcAft>
          <a:spcPts val="900"/>
        </a:spcAft>
        <a:buClr>
          <a:schemeClr val="accent1"/>
        </a:buClr>
        <a:buSzPct val="115000"/>
        <a:buFont typeface="Arial"/>
        <a:buChar char="•"/>
        <a:defRPr sz="3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800225" indent="-428625" algn="l" defTabSz="685800" rtl="0" eaLnBrk="1" latinLnBrk="0" hangingPunct="1">
        <a:spcBef>
          <a:spcPct val="20000"/>
        </a:spcBef>
        <a:spcAft>
          <a:spcPts val="900"/>
        </a:spcAft>
        <a:buClr>
          <a:schemeClr val="accent1"/>
        </a:buClr>
        <a:buSzPct val="115000"/>
        <a:buFont typeface="Arial"/>
        <a:buChar char="•"/>
        <a:defRPr sz="27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2314575" indent="-257175" algn="l" defTabSz="685800" rtl="0" eaLnBrk="1" latinLnBrk="0" hangingPunct="1">
        <a:spcBef>
          <a:spcPct val="20000"/>
        </a:spcBef>
        <a:spcAft>
          <a:spcPts val="9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3000375" indent="-257175" algn="l" defTabSz="685800" rtl="0" eaLnBrk="1" latinLnBrk="0" hangingPunct="1">
        <a:spcBef>
          <a:spcPct val="20000"/>
        </a:spcBef>
        <a:spcAft>
          <a:spcPts val="900"/>
        </a:spcAft>
        <a:buClr>
          <a:schemeClr val="accent1"/>
        </a:buClr>
        <a:buSzPct val="115000"/>
        <a:buFont typeface="Arial"/>
        <a:buChar char="•"/>
        <a:defRPr sz="21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3771900" indent="-342900" algn="l" defTabSz="685800" rtl="0" eaLnBrk="1" latinLnBrk="0" hangingPunct="1">
        <a:spcBef>
          <a:spcPct val="20000"/>
        </a:spcBef>
        <a:spcAft>
          <a:spcPts val="900"/>
        </a:spcAft>
        <a:buClr>
          <a:schemeClr val="accent1"/>
        </a:buClr>
        <a:buSzPct val="115000"/>
        <a:buFont typeface="Arial"/>
        <a:buChar char="•"/>
        <a:defRPr sz="21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4457700" indent="-342900" algn="l" defTabSz="685800" rtl="0" eaLnBrk="1" latinLnBrk="0" hangingPunct="1">
        <a:spcBef>
          <a:spcPct val="20000"/>
        </a:spcBef>
        <a:spcAft>
          <a:spcPts val="900"/>
        </a:spcAft>
        <a:buClr>
          <a:schemeClr val="accent1"/>
        </a:buClr>
        <a:buSzPct val="115000"/>
        <a:buFont typeface="Arial"/>
        <a:buChar char="•"/>
        <a:defRPr sz="21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5143500" indent="-342900" algn="l" defTabSz="685800" rtl="0" eaLnBrk="1" latinLnBrk="0" hangingPunct="1">
        <a:spcBef>
          <a:spcPct val="20000"/>
        </a:spcBef>
        <a:spcAft>
          <a:spcPts val="900"/>
        </a:spcAft>
        <a:buClr>
          <a:schemeClr val="accent1"/>
        </a:buClr>
        <a:buSzPct val="115000"/>
        <a:buFont typeface="Arial"/>
        <a:buChar char="•"/>
        <a:defRPr sz="21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5829300" indent="-342900" algn="l" defTabSz="685800" rtl="0" eaLnBrk="1" latinLnBrk="0" hangingPunct="1">
        <a:spcBef>
          <a:spcPct val="20000"/>
        </a:spcBef>
        <a:spcAft>
          <a:spcPts val="900"/>
        </a:spcAft>
        <a:buClr>
          <a:schemeClr val="accent1"/>
        </a:buClr>
        <a:buSzPct val="115000"/>
        <a:buFont typeface="Arial"/>
        <a:buChar char="•"/>
        <a:defRPr sz="21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pixabay.com/en/question-mark-why-question-1829459/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bestgrafix.com/blogs/thank-you-image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178316" y="5632594"/>
            <a:ext cx="4828050" cy="2510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40009"/>
              </a:lnSpc>
              <a:buClr>
                <a:srgbClr val="000000"/>
              </a:buClr>
              <a:buSzPts val="12000"/>
            </a:pPr>
            <a:r>
              <a:rPr lang="en-US" sz="11654" dirty="0">
                <a:solidFill>
                  <a:srgbClr val="FF313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 </a:t>
            </a:r>
            <a:endParaRPr sz="1050" dirty="0">
              <a:solidFill>
                <a:srgbClr val="000000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D07D15-7245-42CE-B7CA-5CA26EC6C52B}"/>
              </a:ext>
            </a:extLst>
          </p:cNvPr>
          <p:cNvSpPr txBox="1"/>
          <p:nvPr/>
        </p:nvSpPr>
        <p:spPr>
          <a:xfrm flipH="1">
            <a:off x="969220" y="3016625"/>
            <a:ext cx="5653997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8000" dirty="0">
                <a:solidFill>
                  <a:schemeClr val="accent4">
                    <a:lumMod val="50000"/>
                  </a:schemeClr>
                </a:solidFill>
                <a:latin typeface="Algerian" panose="04020705040A02060702" pitchFamily="82" charset="0"/>
              </a:rPr>
              <a:t>ZOMATO DATA ANALYTICS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539F7F-8691-4128-8120-6C283FC12A14}"/>
              </a:ext>
            </a:extLst>
          </p:cNvPr>
          <p:cNvSpPr txBox="1"/>
          <p:nvPr/>
        </p:nvSpPr>
        <p:spPr>
          <a:xfrm flipH="1">
            <a:off x="9003825" y="7915656"/>
            <a:ext cx="3729802" cy="12888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dirty="0">
                <a:solidFill>
                  <a:schemeClr val="accent4">
                    <a:lumMod val="50000"/>
                  </a:schemeClr>
                </a:solidFill>
                <a:latin typeface="Rockwell Extra Bold" panose="02060903040505020403" pitchFamily="18" charset="0"/>
              </a:rPr>
              <a:t>Analytics done by : </a:t>
            </a:r>
          </a:p>
          <a:p>
            <a:pPr>
              <a:lnSpc>
                <a:spcPct val="150000"/>
              </a:lnSpc>
            </a:pPr>
            <a:r>
              <a:rPr lang="en-IN" dirty="0">
                <a:solidFill>
                  <a:schemeClr val="accent4">
                    <a:lumMod val="50000"/>
                  </a:schemeClr>
                </a:solidFill>
                <a:latin typeface="Rockwell Extra Bold" panose="02060903040505020403" pitchFamily="18" charset="0"/>
              </a:rPr>
              <a:t>Ansh Jain</a:t>
            </a:r>
          </a:p>
          <a:p>
            <a:pPr>
              <a:lnSpc>
                <a:spcPct val="150000"/>
              </a:lnSpc>
            </a:pPr>
            <a:r>
              <a:rPr lang="en-IN" dirty="0">
                <a:solidFill>
                  <a:schemeClr val="accent4">
                    <a:lumMod val="50000"/>
                  </a:schemeClr>
                </a:solidFill>
                <a:latin typeface="Rockwell Extra Bold" panose="02060903040505020403" pitchFamily="18" charset="0"/>
              </a:rPr>
              <a:t>jainanshhhm@gmail.com</a:t>
            </a:r>
          </a:p>
        </p:txBody>
      </p:sp>
      <p:pic>
        <p:nvPicPr>
          <p:cNvPr id="1028" name="Picture 4" descr="How Zomato Uses Machine Learning">
            <a:extLst>
              <a:ext uri="{FF2B5EF4-FFF2-40B4-BE49-F238E27FC236}">
                <a16:creationId xmlns:a16="http://schemas.microsoft.com/office/drawing/2014/main" id="{9D6646E3-C8B8-498E-967C-5F67008DAB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2784" y="2907325"/>
            <a:ext cx="5270487" cy="4129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4413586" y="1226697"/>
            <a:ext cx="4888829" cy="11934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235454"/>
              </a:lnSpc>
              <a:buClr>
                <a:srgbClr val="000000"/>
              </a:buClr>
              <a:buSzPts val="4400"/>
            </a:pPr>
            <a:r>
              <a:rPr lang="en-US" sz="3300" b="1" dirty="0">
                <a:solidFill>
                  <a:schemeClr val="accent4">
                    <a:lumMod val="75000"/>
                  </a:schemeClr>
                </a:solidFill>
                <a:latin typeface="Arial Black" panose="020B0A04020102020204" pitchFamily="34" charset="0"/>
                <a:ea typeface="Montserrat"/>
                <a:cs typeface="Montserrat"/>
                <a:sym typeface="Montserrat"/>
              </a:rPr>
              <a:t>Problem Statement</a:t>
            </a:r>
            <a:endParaRPr lang="en-US" sz="1050" b="1" dirty="0">
              <a:solidFill>
                <a:schemeClr val="accent4">
                  <a:lumMod val="75000"/>
                </a:schemeClr>
              </a:solidFill>
              <a:latin typeface="Arial Black" panose="020B0A04020102020204" pitchFamily="34" charset="0"/>
              <a:ea typeface="Montserrat"/>
              <a:cs typeface="Montserrat"/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5385977" y="3000338"/>
            <a:ext cx="6629810" cy="5401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indent="-342900">
              <a:lnSpc>
                <a:spcPct val="150000"/>
              </a:lnSpc>
              <a:buSzPts val="2799"/>
              <a:buChar char="•"/>
            </a:pPr>
            <a:r>
              <a:rPr lang="en-US" sz="1950" dirty="0">
                <a:latin typeface="Montserrat"/>
                <a:ea typeface="Montserrat"/>
                <a:sym typeface="Montserrat"/>
              </a:rPr>
              <a:t>Find suitable countries and cities for new restaurant expansion.</a:t>
            </a:r>
            <a:endParaRPr lang="en-US" sz="1950" dirty="0">
              <a:latin typeface="Montserrat"/>
            </a:endParaRPr>
          </a:p>
          <a:p>
            <a:pPr marL="342900" indent="-342900">
              <a:lnSpc>
                <a:spcPct val="150000"/>
              </a:lnSpc>
              <a:buSzPts val="2799"/>
              <a:buChar char="•"/>
            </a:pPr>
            <a:r>
              <a:rPr lang="en-US" sz="1950" dirty="0">
                <a:latin typeface="Montserrat"/>
                <a:ea typeface="Montserrat"/>
                <a:sym typeface="Montserrat"/>
              </a:rPr>
              <a:t>Review restaurant quality using existing customer ratings.</a:t>
            </a:r>
            <a:endParaRPr sz="1350" dirty="0">
              <a:latin typeface="Montserrat"/>
            </a:endParaRPr>
          </a:p>
          <a:p>
            <a:pPr marL="342900" indent="-342900">
              <a:lnSpc>
                <a:spcPct val="150000"/>
              </a:lnSpc>
              <a:buSzPts val="2799"/>
              <a:buChar char="•"/>
            </a:pPr>
            <a:r>
              <a:rPr lang="en-US" sz="1950" dirty="0">
                <a:latin typeface="Montserrat"/>
                <a:ea typeface="Montserrat"/>
                <a:sym typeface="Montserrat"/>
              </a:rPr>
              <a:t>Study current food spending behavior in these regions.</a:t>
            </a:r>
            <a:endParaRPr sz="1350" dirty="0">
              <a:latin typeface="Montserrat"/>
            </a:endParaRPr>
          </a:p>
          <a:p>
            <a:pPr marL="342900" indent="-342900">
              <a:lnSpc>
                <a:spcPct val="150000"/>
              </a:lnSpc>
              <a:buSzPts val="2799"/>
              <a:buChar char="•"/>
            </a:pPr>
            <a:r>
              <a:rPr lang="en-US" sz="1950" dirty="0">
                <a:latin typeface="Montserrat"/>
                <a:ea typeface="Montserrat"/>
                <a:sym typeface="Montserrat"/>
              </a:rPr>
              <a:t>Identify key competitors in the market.</a:t>
            </a:r>
            <a:endParaRPr sz="1350" dirty="0">
              <a:latin typeface="Montserrat"/>
            </a:endParaRPr>
          </a:p>
          <a:p>
            <a:pPr marL="342900" indent="-342900">
              <a:lnSpc>
                <a:spcPct val="150000"/>
              </a:lnSpc>
              <a:buSzPts val="2799"/>
              <a:buChar char="•"/>
            </a:pPr>
            <a:r>
              <a:rPr lang="en-US" sz="1950" dirty="0">
                <a:latin typeface="Montserrat"/>
                <a:ea typeface="Montserrat"/>
                <a:sym typeface="Montserrat"/>
              </a:rPr>
              <a:t>Highlight cuisines with strong growth potential.</a:t>
            </a:r>
            <a:endParaRPr sz="1350" dirty="0">
              <a:latin typeface="Montserrat"/>
            </a:endParaRPr>
          </a:p>
          <a:p>
            <a:pPr marL="342900" indent="-342900">
              <a:lnSpc>
                <a:spcPct val="150000"/>
              </a:lnSpc>
              <a:buSzPts val="2799"/>
              <a:buChar char="•"/>
            </a:pPr>
            <a:r>
              <a:rPr lang="en-US" sz="1950" dirty="0">
                <a:latin typeface="Montserrat"/>
                <a:ea typeface="Montserrat"/>
                <a:sym typeface="Montserrat"/>
              </a:rPr>
              <a:t>Analyze trends in online delivery and table bookings.</a:t>
            </a:r>
            <a:endParaRPr sz="1350" dirty="0">
              <a:latin typeface="Montserrat"/>
            </a:endParaRPr>
          </a:p>
          <a:p>
            <a:pPr marL="342900" indent="-342900">
              <a:lnSpc>
                <a:spcPct val="150000"/>
              </a:lnSpc>
              <a:buSzPts val="2799"/>
              <a:buChar char="•"/>
            </a:pPr>
            <a:r>
              <a:rPr lang="en-US" sz="1950" dirty="0">
                <a:latin typeface="Montserrat"/>
                <a:ea typeface="Montserrat"/>
                <a:sym typeface="Montserrat"/>
              </a:rPr>
              <a:t>Identify the top-preferred cuisines.</a:t>
            </a:r>
            <a:endParaRPr lang="en-US" sz="1350" dirty="0">
              <a:latin typeface="Montserrat"/>
            </a:endParaRPr>
          </a:p>
          <a:p>
            <a:pPr marL="342900" indent="-342900">
              <a:lnSpc>
                <a:spcPct val="150000"/>
              </a:lnSpc>
              <a:buSzPts val="2799"/>
              <a:buChar char="•"/>
            </a:pPr>
            <a:endParaRPr lang="en-US" sz="1950" dirty="0">
              <a:latin typeface="Montserrat"/>
              <a:ea typeface="Montserra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0465F5C-A19E-433C-9EC6-A10AE91EB5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392360" y="3000338"/>
            <a:ext cx="5667471" cy="428632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/>
        </p:nvSpPr>
        <p:spPr>
          <a:xfrm>
            <a:off x="5129737" y="889766"/>
            <a:ext cx="3456525" cy="1198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235999"/>
              </a:lnSpc>
              <a:buClr>
                <a:srgbClr val="000000"/>
              </a:buClr>
              <a:buSzPts val="3500"/>
            </a:pPr>
            <a:r>
              <a:rPr lang="en-US" sz="3300" b="1" dirty="0">
                <a:solidFill>
                  <a:schemeClr val="accent4">
                    <a:lumMod val="75000"/>
                  </a:schemeClr>
                </a:solidFill>
                <a:latin typeface="Arial Black" panose="020B0A04020102020204" pitchFamily="34" charset="0"/>
                <a:ea typeface="Montserrat"/>
                <a:cs typeface="Montserrat"/>
                <a:sym typeface="Montserrat"/>
              </a:rPr>
              <a:t>Data Overview</a:t>
            </a:r>
            <a:endParaRPr lang="en-US" sz="3300" b="1" dirty="0">
              <a:solidFill>
                <a:schemeClr val="accent4">
                  <a:lumMod val="75000"/>
                </a:schemeClr>
              </a:solidFill>
              <a:latin typeface="Arial Black" panose="020B0A04020102020204" pitchFamily="34" charset="0"/>
              <a:ea typeface="Montserrat"/>
              <a:cs typeface="Montserrat"/>
            </a:endParaRPr>
          </a:p>
        </p:txBody>
      </p:sp>
      <p:sp>
        <p:nvSpPr>
          <p:cNvPr id="72" name="Google Shape;72;p15"/>
          <p:cNvSpPr txBox="1"/>
          <p:nvPr/>
        </p:nvSpPr>
        <p:spPr>
          <a:xfrm>
            <a:off x="1307607" y="2540325"/>
            <a:ext cx="11408268" cy="72019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lvl="1" indent="-342900">
              <a:lnSpc>
                <a:spcPct val="150000"/>
              </a:lnSpc>
              <a:buClr>
                <a:schemeClr val="dk1"/>
              </a:buClr>
              <a:buSzPts val="2800"/>
              <a:buChar char="•"/>
            </a:pPr>
            <a:r>
              <a:rPr lang="en-US" sz="1950" b="1" dirty="0">
                <a:solidFill>
                  <a:schemeClr val="dk1"/>
                </a:solidFill>
                <a:latin typeface="Montserrat"/>
                <a:ea typeface="Montserrat"/>
                <a:sym typeface="Montserrat"/>
              </a:rPr>
              <a:t>Raw Dataset:</a:t>
            </a:r>
            <a:r>
              <a:rPr lang="en-US" sz="1950" dirty="0">
                <a:solidFill>
                  <a:schemeClr val="dk1"/>
                </a:solidFill>
                <a:latin typeface="Montserrat"/>
                <a:ea typeface="Montserrat"/>
                <a:sym typeface="Montserrat"/>
              </a:rPr>
              <a:t> </a:t>
            </a:r>
            <a:r>
              <a:rPr lang="en-US" sz="1950" b="1" dirty="0">
                <a:solidFill>
                  <a:schemeClr val="dk1"/>
                </a:solidFill>
                <a:latin typeface="Montserrat"/>
                <a:ea typeface="Montserrat"/>
                <a:sym typeface="Montserrat"/>
              </a:rPr>
              <a:t>20</a:t>
            </a:r>
            <a:r>
              <a:rPr lang="en-US" sz="1950" dirty="0">
                <a:solidFill>
                  <a:schemeClr val="dk1"/>
                </a:solidFill>
                <a:latin typeface="Montserrat"/>
                <a:ea typeface="Montserrat"/>
                <a:sym typeface="Montserrat"/>
              </a:rPr>
              <a:t> attributes containing restaurant details.</a:t>
            </a:r>
            <a:endParaRPr lang="en-US" sz="1950" dirty="0">
              <a:solidFill>
                <a:schemeClr val="dk1"/>
              </a:solidFill>
              <a:latin typeface="Montserrat"/>
            </a:endParaRPr>
          </a:p>
          <a:p>
            <a:pPr marL="342900" lvl="1" indent="-342900">
              <a:lnSpc>
                <a:spcPct val="150000"/>
              </a:lnSpc>
              <a:buSzPts val="2800"/>
              <a:buChar char="•"/>
            </a:pPr>
            <a:r>
              <a:rPr lang="en-US" sz="1950" b="1" dirty="0">
                <a:solidFill>
                  <a:schemeClr val="dk1"/>
                </a:solidFill>
                <a:latin typeface="Montserrat"/>
                <a:ea typeface="Montserrat"/>
                <a:sym typeface="Montserrat"/>
              </a:rPr>
              <a:t>Enhanced Dataset:</a:t>
            </a:r>
            <a:r>
              <a:rPr lang="en-US" sz="1950" dirty="0">
                <a:solidFill>
                  <a:schemeClr val="dk1"/>
                </a:solidFill>
                <a:latin typeface="Montserrat"/>
                <a:ea typeface="Montserrat"/>
                <a:sym typeface="Montserrat"/>
              </a:rPr>
              <a:t> Expanded to </a:t>
            </a:r>
            <a:r>
              <a:rPr lang="en-US" sz="1950" b="1" dirty="0">
                <a:solidFill>
                  <a:schemeClr val="dk1"/>
                </a:solidFill>
                <a:latin typeface="Montserrat"/>
                <a:ea typeface="Montserrat"/>
                <a:sym typeface="Montserrat"/>
              </a:rPr>
              <a:t>24</a:t>
            </a:r>
            <a:r>
              <a:rPr lang="en-US" sz="1950" dirty="0">
                <a:solidFill>
                  <a:schemeClr val="dk1"/>
                </a:solidFill>
                <a:latin typeface="Montserrat"/>
                <a:ea typeface="Montserrat"/>
                <a:sym typeface="Montserrat"/>
              </a:rPr>
              <a:t> attributes after preprocessing.</a:t>
            </a:r>
            <a:endParaRPr sz="1350" dirty="0">
              <a:solidFill>
                <a:schemeClr val="dk1"/>
              </a:solidFill>
              <a:latin typeface="Montserrat"/>
            </a:endParaRPr>
          </a:p>
          <a:p>
            <a:pPr marL="342900" lvl="1" indent="-342900">
              <a:lnSpc>
                <a:spcPct val="150000"/>
              </a:lnSpc>
              <a:buSzPts val="2800"/>
              <a:buChar char="•"/>
            </a:pPr>
            <a:r>
              <a:rPr lang="en-US" sz="1950" b="1" dirty="0">
                <a:solidFill>
                  <a:schemeClr val="dk1"/>
                </a:solidFill>
                <a:latin typeface="Montserrat"/>
                <a:ea typeface="Montserrat"/>
                <a:sym typeface="Montserrat"/>
              </a:rPr>
              <a:t>Restaurant Data Description:</a:t>
            </a:r>
            <a:r>
              <a:rPr lang="en-US" sz="1950" dirty="0">
                <a:solidFill>
                  <a:schemeClr val="dk1"/>
                </a:solidFill>
                <a:latin typeface="Montserrat"/>
                <a:ea typeface="Montserrat"/>
                <a:sym typeface="Montserrat"/>
              </a:rPr>
              <a:t> Includes restaurant name, location, cuisines, cost, and ratings.</a:t>
            </a:r>
            <a:endParaRPr sz="1350" dirty="0">
              <a:solidFill>
                <a:schemeClr val="dk1"/>
              </a:solidFill>
              <a:latin typeface="Montserrat"/>
            </a:endParaRPr>
          </a:p>
          <a:p>
            <a:pPr marL="342900" lvl="1" indent="-342900">
              <a:lnSpc>
                <a:spcPct val="150000"/>
              </a:lnSpc>
              <a:buSzPts val="2800"/>
              <a:buChar char="•"/>
            </a:pPr>
            <a:r>
              <a:rPr lang="en-US" sz="1950" b="1" dirty="0">
                <a:solidFill>
                  <a:schemeClr val="dk1"/>
                </a:solidFill>
                <a:latin typeface="Montserrat"/>
                <a:ea typeface="Montserrat"/>
                <a:sym typeface="Montserrat"/>
              </a:rPr>
              <a:t>Country Dataset:</a:t>
            </a:r>
            <a:r>
              <a:rPr lang="en-US" sz="1950" dirty="0">
                <a:solidFill>
                  <a:schemeClr val="dk1"/>
                </a:solidFill>
                <a:latin typeface="Montserrat"/>
                <a:ea typeface="Montserrat"/>
                <a:sym typeface="Montserrat"/>
              </a:rPr>
              <a:t> 6 attributes providing country-related information (country code, name, currency, symbol, etc.).</a:t>
            </a:r>
            <a:endParaRPr lang="en-US" sz="1350" dirty="0">
              <a:solidFill>
                <a:schemeClr val="dk1"/>
              </a:solidFill>
              <a:latin typeface="Montserrat"/>
            </a:endParaRPr>
          </a:p>
          <a:p>
            <a:pPr marL="469583" lvl="1" indent="-230029">
              <a:lnSpc>
                <a:spcPct val="150000"/>
              </a:lnSpc>
              <a:buClr>
                <a:schemeClr val="dk1"/>
              </a:buClr>
              <a:buSzPts val="2800"/>
              <a:buFont typeface="Arial"/>
              <a:buChar char="•"/>
            </a:pPr>
            <a:endParaRPr lang="en-US" sz="1950" dirty="0">
              <a:solidFill>
                <a:schemeClr val="dk1"/>
              </a:solidFill>
              <a:latin typeface="Montserrat"/>
            </a:endParaRPr>
          </a:p>
          <a:p>
            <a:pPr>
              <a:lnSpc>
                <a:spcPct val="150000"/>
              </a:lnSpc>
              <a:buClr>
                <a:srgbClr val="000000"/>
              </a:buClr>
              <a:buSzPts val="2900"/>
            </a:pPr>
            <a:r>
              <a:rPr lang="en-US" sz="195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Data Cleaning and Preprocessing:</a:t>
            </a:r>
            <a:endParaRPr sz="195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indent="-342900">
              <a:lnSpc>
                <a:spcPct val="150000"/>
              </a:lnSpc>
              <a:buClr>
                <a:schemeClr val="dk1"/>
              </a:buClr>
              <a:buSzPts val="2800"/>
              <a:buChar char="•"/>
            </a:pPr>
            <a:r>
              <a:rPr lang="en-US" sz="1950" dirty="0">
                <a:solidFill>
                  <a:schemeClr val="dk1"/>
                </a:solidFill>
                <a:latin typeface="Montserrat"/>
                <a:ea typeface="Montserrat"/>
                <a:sym typeface="Montserrat"/>
              </a:rPr>
              <a:t>Standardized city names and corrected date formats.</a:t>
            </a:r>
            <a:endParaRPr sz="1950" dirty="0">
              <a:solidFill>
                <a:schemeClr val="dk1"/>
              </a:solidFill>
              <a:latin typeface="Montserrat"/>
            </a:endParaRPr>
          </a:p>
          <a:p>
            <a:pPr marL="342900" lvl="1" indent="-342900">
              <a:lnSpc>
                <a:spcPct val="150000"/>
              </a:lnSpc>
              <a:buSzPts val="2800"/>
              <a:buChar char="•"/>
            </a:pPr>
            <a:r>
              <a:rPr lang="en-US" sz="1950" dirty="0">
                <a:solidFill>
                  <a:schemeClr val="dk1"/>
                </a:solidFill>
                <a:latin typeface="Montserrat"/>
                <a:ea typeface="Montserrat"/>
                <a:sym typeface="Montserrat"/>
              </a:rPr>
              <a:t>Treated missing and inconsistent data entries.</a:t>
            </a:r>
            <a:endParaRPr sz="1350" dirty="0">
              <a:solidFill>
                <a:schemeClr val="dk1"/>
              </a:solidFill>
              <a:latin typeface="Montserrat"/>
            </a:endParaRPr>
          </a:p>
          <a:p>
            <a:pPr marL="342900" lvl="1" indent="-342900">
              <a:lnSpc>
                <a:spcPct val="150000"/>
              </a:lnSpc>
              <a:buSzPts val="2800"/>
              <a:buChar char="•"/>
            </a:pPr>
            <a:r>
              <a:rPr lang="en-US" sz="1950" dirty="0">
                <a:solidFill>
                  <a:schemeClr val="dk1"/>
                </a:solidFill>
                <a:latin typeface="Montserrat"/>
                <a:ea typeface="Montserrat"/>
                <a:sym typeface="Montserrat"/>
              </a:rPr>
              <a:t>Added country-level details using lookup techniques.</a:t>
            </a:r>
            <a:endParaRPr sz="1350" dirty="0">
              <a:solidFill>
                <a:schemeClr val="dk1"/>
              </a:solidFill>
              <a:latin typeface="Montserrat"/>
            </a:endParaRPr>
          </a:p>
          <a:p>
            <a:pPr marL="342900" lvl="1" indent="-342900">
              <a:lnSpc>
                <a:spcPct val="150000"/>
              </a:lnSpc>
              <a:buSzPts val="2800"/>
              <a:buChar char="•"/>
            </a:pPr>
            <a:r>
              <a:rPr lang="en-US" sz="1950" dirty="0">
                <a:solidFill>
                  <a:schemeClr val="dk1"/>
                </a:solidFill>
                <a:latin typeface="Montserrat"/>
                <a:ea typeface="Montserrat"/>
                <a:sym typeface="Montserrat"/>
              </a:rPr>
              <a:t>Removed unnecessary special characters from text fields.</a:t>
            </a:r>
            <a:endParaRPr sz="1350" dirty="0">
              <a:solidFill>
                <a:schemeClr val="dk1"/>
              </a:solidFill>
              <a:latin typeface="Montserrat"/>
            </a:endParaRPr>
          </a:p>
          <a:p>
            <a:pPr marL="342900" lvl="1" indent="-342900">
              <a:lnSpc>
                <a:spcPct val="150000"/>
              </a:lnSpc>
              <a:buSzPts val="2800"/>
              <a:buChar char="•"/>
            </a:pPr>
            <a:r>
              <a:rPr lang="en-US" sz="1950" dirty="0">
                <a:solidFill>
                  <a:schemeClr val="dk1"/>
                </a:solidFill>
                <a:latin typeface="Montserrat"/>
                <a:ea typeface="Montserrat"/>
                <a:sym typeface="Montserrat"/>
              </a:rPr>
              <a:t>Revised average cost and cuisine information based on defined rules.</a:t>
            </a:r>
            <a:endParaRPr sz="1350" dirty="0">
              <a:solidFill>
                <a:schemeClr val="dk1"/>
              </a:solidFill>
              <a:latin typeface="Montserrat"/>
            </a:endParaRPr>
          </a:p>
          <a:p>
            <a:pPr marL="342900" lvl="1" indent="-342900">
              <a:lnSpc>
                <a:spcPct val="150000"/>
              </a:lnSpc>
              <a:buSzPts val="2800"/>
              <a:buChar char="•"/>
            </a:pPr>
            <a:r>
              <a:rPr lang="en-US" sz="1950" dirty="0">
                <a:solidFill>
                  <a:schemeClr val="dk1"/>
                </a:solidFill>
                <a:latin typeface="Montserrat"/>
                <a:ea typeface="Montserrat"/>
                <a:sym typeface="Montserrat"/>
              </a:rPr>
              <a:t>Used conditional formatting to mark regions with low restaurant presence and high        expansion opportunity.</a:t>
            </a:r>
            <a:endParaRPr lang="en-US" sz="1350" dirty="0">
              <a:solidFill>
                <a:schemeClr val="dk1"/>
              </a:solidFill>
              <a:latin typeface="Montserrat"/>
            </a:endParaRPr>
          </a:p>
          <a:p>
            <a:pPr marL="239554" lvl="1">
              <a:lnSpc>
                <a:spcPct val="150000"/>
              </a:lnSpc>
              <a:buClr>
                <a:schemeClr val="dk1"/>
              </a:buClr>
              <a:buSzPts val="2800"/>
            </a:pPr>
            <a:r>
              <a:rPr lang="en-US" sz="195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1950" dirty="0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/>
        </p:nvSpPr>
        <p:spPr>
          <a:xfrm>
            <a:off x="1178315" y="3098747"/>
            <a:ext cx="6181351" cy="57131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indent="-342900">
              <a:lnSpc>
                <a:spcPct val="150000"/>
              </a:lnSpc>
              <a:buChar char="•"/>
            </a:pPr>
            <a:r>
              <a:rPr lang="en-US" sz="1950" dirty="0">
                <a:solidFill>
                  <a:schemeClr val="dk1"/>
                </a:solidFill>
                <a:latin typeface="Montserrat"/>
                <a:ea typeface="Montserrat"/>
                <a:sym typeface="Montserrat"/>
              </a:rPr>
              <a:t>The restaurant market remained </a:t>
            </a:r>
            <a:r>
              <a:rPr lang="en-US" sz="1950" b="1" dirty="0">
                <a:solidFill>
                  <a:schemeClr val="dk1"/>
                </a:solidFill>
                <a:latin typeface="Montserrat"/>
                <a:ea typeface="Montserrat"/>
                <a:sym typeface="Montserrat"/>
              </a:rPr>
              <a:t>consistently stable</a:t>
            </a:r>
            <a:r>
              <a:rPr lang="en-US" sz="1950" dirty="0">
                <a:solidFill>
                  <a:schemeClr val="dk1"/>
                </a:solidFill>
                <a:latin typeface="Montserrat"/>
                <a:ea typeface="Montserrat"/>
                <a:sym typeface="Montserrat"/>
              </a:rPr>
              <a:t>, with counts </a:t>
            </a:r>
            <a:r>
              <a:rPr lang="en-US" sz="1950" dirty="0">
                <a:solidFill>
                  <a:schemeClr val="dk1"/>
                </a:solidFill>
                <a:latin typeface="Montserrat"/>
                <a:ea typeface="Montserrat"/>
              </a:rPr>
              <a:t>always </a:t>
            </a:r>
            <a:r>
              <a:rPr lang="en-US" sz="1950" b="1" dirty="0">
                <a:solidFill>
                  <a:schemeClr val="dk1"/>
                </a:solidFill>
                <a:latin typeface="Montserrat"/>
                <a:ea typeface="Montserrat"/>
              </a:rPr>
              <a:t>above 1000</a:t>
            </a:r>
            <a:r>
              <a:rPr lang="en-US" sz="1950" dirty="0">
                <a:solidFill>
                  <a:schemeClr val="dk1"/>
                </a:solidFill>
                <a:latin typeface="Montserrat"/>
                <a:ea typeface="Montserrat"/>
              </a:rPr>
              <a:t> across all </a:t>
            </a:r>
            <a:r>
              <a:rPr lang="en-US" sz="1950" dirty="0">
                <a:solidFill>
                  <a:schemeClr val="dk1"/>
                </a:solidFill>
                <a:latin typeface="Montserrat"/>
                <a:ea typeface="Montserrat"/>
                <a:sym typeface="Montserrat"/>
              </a:rPr>
              <a:t>years.</a:t>
            </a:r>
            <a:endParaRPr lang="en-US" sz="1350" dirty="0">
              <a:solidFill>
                <a:schemeClr val="dk1"/>
              </a:solidFill>
              <a:latin typeface="Montserrat"/>
            </a:endParaRPr>
          </a:p>
          <a:p>
            <a:pPr>
              <a:lnSpc>
                <a:spcPct val="150000"/>
              </a:lnSpc>
            </a:pPr>
            <a:endParaRPr lang="en-US" sz="1950" dirty="0">
              <a:solidFill>
                <a:schemeClr val="dk1"/>
              </a:solidFill>
              <a:latin typeface="Montserrat"/>
              <a:ea typeface="Montserrat"/>
            </a:endParaRPr>
          </a:p>
          <a:p>
            <a:pPr marL="342900" indent="-342900">
              <a:lnSpc>
                <a:spcPct val="150000"/>
              </a:lnSpc>
              <a:buChar char="•"/>
            </a:pPr>
            <a:r>
              <a:rPr lang="en-US" sz="1950" dirty="0">
                <a:solidFill>
                  <a:schemeClr val="dk1"/>
                </a:solidFill>
                <a:latin typeface="Montserrat"/>
                <a:ea typeface="Montserrat"/>
              </a:rPr>
              <a:t>After a </a:t>
            </a:r>
            <a:r>
              <a:rPr lang="en-US" sz="1950" b="1" dirty="0">
                <a:solidFill>
                  <a:schemeClr val="dk1"/>
                </a:solidFill>
                <a:latin typeface="Montserrat"/>
                <a:ea typeface="Montserrat"/>
              </a:rPr>
              <a:t>decline from 2011 to 2015</a:t>
            </a:r>
            <a:r>
              <a:rPr lang="en-US" sz="1950" dirty="0">
                <a:solidFill>
                  <a:schemeClr val="dk1"/>
                </a:solidFill>
                <a:latin typeface="Montserrat"/>
                <a:ea typeface="Montserrat"/>
                <a:sym typeface="Montserrat"/>
              </a:rPr>
              <a:t>, the market started showing </a:t>
            </a:r>
            <a:r>
              <a:rPr lang="en-US" sz="1950" b="1" dirty="0">
                <a:solidFill>
                  <a:schemeClr val="dk1"/>
                </a:solidFill>
                <a:latin typeface="Montserrat"/>
                <a:ea typeface="Montserrat"/>
                <a:sym typeface="Montserrat"/>
              </a:rPr>
              <a:t>clear recovery and growth</a:t>
            </a:r>
            <a:r>
              <a:rPr lang="en-US" sz="1950" dirty="0">
                <a:solidFill>
                  <a:schemeClr val="dk1"/>
                </a:solidFill>
                <a:latin typeface="Montserrat"/>
                <a:ea typeface="Montserrat"/>
                <a:sym typeface="Montserrat"/>
              </a:rPr>
              <a:t> from 2016 onward.</a:t>
            </a:r>
            <a:endParaRPr sz="1350" dirty="0">
              <a:solidFill>
                <a:schemeClr val="dk1"/>
              </a:solidFill>
              <a:latin typeface="Montserrat"/>
            </a:endParaRPr>
          </a:p>
          <a:p>
            <a:pPr>
              <a:lnSpc>
                <a:spcPct val="150000"/>
              </a:lnSpc>
            </a:pPr>
            <a:endParaRPr lang="en-US" sz="1950" dirty="0">
              <a:solidFill>
                <a:schemeClr val="dk1"/>
              </a:solidFill>
              <a:latin typeface="Montserrat"/>
            </a:endParaRPr>
          </a:p>
          <a:p>
            <a:pPr marL="342900" indent="-342900">
              <a:lnSpc>
                <a:spcPct val="150000"/>
              </a:lnSpc>
              <a:buChar char="•"/>
            </a:pPr>
            <a:r>
              <a:rPr lang="en-US" sz="1950" dirty="0">
                <a:solidFill>
                  <a:schemeClr val="dk1"/>
                </a:solidFill>
                <a:latin typeface="Montserrat"/>
              </a:rPr>
              <a:t>A major </a:t>
            </a:r>
            <a:r>
              <a:rPr lang="en-US" sz="1950" b="1" dirty="0">
                <a:solidFill>
                  <a:schemeClr val="dk1"/>
                </a:solidFill>
                <a:latin typeface="Montserrat"/>
              </a:rPr>
              <a:t>upward jump in 2017 and 2018</a:t>
            </a:r>
            <a:r>
              <a:rPr lang="en-US" sz="1950" dirty="0">
                <a:solidFill>
                  <a:schemeClr val="dk1"/>
                </a:solidFill>
                <a:latin typeface="Montserrat"/>
              </a:rPr>
              <a:t> highlights strong expansion and increasing business opportunities.</a:t>
            </a:r>
            <a:endParaRPr lang="en-US" sz="1350" dirty="0">
              <a:solidFill>
                <a:schemeClr val="dk1"/>
              </a:solidFill>
              <a:latin typeface="Montserrat"/>
            </a:endParaRPr>
          </a:p>
          <a:p>
            <a:pPr marL="214313" indent="-214313">
              <a:lnSpc>
                <a:spcPct val="150000"/>
              </a:lnSpc>
              <a:buChar char="•"/>
            </a:pPr>
            <a:endParaRPr sz="1350" dirty="0">
              <a:latin typeface="Montserrat"/>
            </a:endParaRPr>
          </a:p>
          <a:p>
            <a:pPr marL="342900" indent="-342900">
              <a:lnSpc>
                <a:spcPct val="150000"/>
              </a:lnSpc>
              <a:buChar char="•"/>
            </a:pPr>
            <a:endParaRPr lang="en-US" sz="1950" b="1" dirty="0">
              <a:solidFill>
                <a:schemeClr val="dk1"/>
              </a:solidFill>
              <a:latin typeface="Montserrat"/>
              <a:ea typeface="Montserra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97060D-B95F-F7EE-9A9A-843F4A7070D8}"/>
              </a:ext>
            </a:extLst>
          </p:cNvPr>
          <p:cNvSpPr txBox="1"/>
          <p:nvPr/>
        </p:nvSpPr>
        <p:spPr>
          <a:xfrm>
            <a:off x="2457268" y="1480319"/>
            <a:ext cx="9804796" cy="57708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300" b="1" dirty="0">
                <a:solidFill>
                  <a:schemeClr val="accent4">
                    <a:lumMod val="75000"/>
                  </a:schemeClr>
                </a:solidFill>
                <a:latin typeface="Arial Black" panose="020B0A04020102020204" pitchFamily="34" charset="0"/>
              </a:rPr>
              <a:t>Year Wise Growth of Restaurant Listing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5EC1E5FE-F305-476C-8218-098904F9F5F9}"/>
              </a:ext>
              <a:ext uri="{147F2762-F138-4A5C-976F-8EAC2B608ADB}">
                <a16:predDERef xmlns:a16="http://schemas.microsoft.com/office/drawing/2014/main" pred="{25AEB0F6-C288-49F1-9CD3-6708630A3C3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87346821"/>
              </p:ext>
            </p:extLst>
          </p:nvPr>
        </p:nvGraphicFramePr>
        <p:xfrm>
          <a:off x="7679934" y="3418284"/>
          <a:ext cx="4929188" cy="345043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84">
          <a:extLst>
            <a:ext uri="{FF2B5EF4-FFF2-40B4-BE49-F238E27FC236}">
              <a16:creationId xmlns:a16="http://schemas.microsoft.com/office/drawing/2014/main" id="{69A7665F-EAAF-7321-273E-D589CDB86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>
            <a:extLst>
              <a:ext uri="{FF2B5EF4-FFF2-40B4-BE49-F238E27FC236}">
                <a16:creationId xmlns:a16="http://schemas.microsoft.com/office/drawing/2014/main" id="{143BB738-9E90-A39A-2DDF-C5C3BA1F917E}"/>
              </a:ext>
            </a:extLst>
          </p:cNvPr>
          <p:cNvSpPr txBox="1"/>
          <p:nvPr/>
        </p:nvSpPr>
        <p:spPr>
          <a:xfrm>
            <a:off x="1071563" y="3216618"/>
            <a:ext cx="5786437" cy="4051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indent="-342900">
              <a:lnSpc>
                <a:spcPct val="150000"/>
              </a:lnSpc>
              <a:buChar char="•"/>
            </a:pPr>
            <a:r>
              <a:rPr lang="en-US" sz="1950" dirty="0">
                <a:solidFill>
                  <a:schemeClr val="dk1"/>
                </a:solidFill>
                <a:latin typeface="Montserrat"/>
                <a:ea typeface="Montserrat"/>
                <a:sym typeface="Montserrat"/>
              </a:rPr>
              <a:t>India holds</a:t>
            </a:r>
            <a:r>
              <a:rPr lang="en-US" sz="1950" dirty="0">
                <a:solidFill>
                  <a:schemeClr val="dk1"/>
                </a:solidFill>
                <a:latin typeface="Montserrat"/>
                <a:ea typeface="Montserrat"/>
              </a:rPr>
              <a:t> </a:t>
            </a:r>
            <a:r>
              <a:rPr lang="en-US" sz="1950" dirty="0">
                <a:solidFill>
                  <a:schemeClr val="dk1"/>
                </a:solidFill>
                <a:latin typeface="Montserrat"/>
                <a:ea typeface="Montserrat"/>
                <a:sym typeface="Montserrat"/>
              </a:rPr>
              <a:t>the </a:t>
            </a:r>
            <a:r>
              <a:rPr lang="en-US" sz="1950" b="1" dirty="0">
                <a:solidFill>
                  <a:schemeClr val="dk1"/>
                </a:solidFill>
                <a:latin typeface="Montserrat"/>
                <a:ea typeface="Montserrat"/>
                <a:sym typeface="Montserrat"/>
              </a:rPr>
              <a:t>major market share</a:t>
            </a:r>
            <a:r>
              <a:rPr lang="en-US" sz="1950" dirty="0">
                <a:solidFill>
                  <a:schemeClr val="dk1"/>
                </a:solidFill>
                <a:latin typeface="Montserrat"/>
              </a:rPr>
              <a:t> with maximum </a:t>
            </a:r>
            <a:r>
              <a:rPr lang="en-US" sz="1950" dirty="0">
                <a:solidFill>
                  <a:schemeClr val="dk1"/>
                </a:solidFill>
                <a:latin typeface="Montserrat"/>
                <a:ea typeface="Montserrat"/>
                <a:sym typeface="Montserrat"/>
              </a:rPr>
              <a:t>restaurant presence.</a:t>
            </a:r>
            <a:endParaRPr lang="en-US" sz="1350" dirty="0">
              <a:solidFill>
                <a:schemeClr val="dk1"/>
              </a:solidFill>
              <a:latin typeface="Montserrat"/>
            </a:endParaRPr>
          </a:p>
          <a:p>
            <a:pPr marL="342900" indent="-342900">
              <a:lnSpc>
                <a:spcPct val="150000"/>
              </a:lnSpc>
              <a:buChar char="•"/>
            </a:pPr>
            <a:r>
              <a:rPr lang="en-US" sz="1950" dirty="0">
                <a:solidFill>
                  <a:schemeClr val="dk1"/>
                </a:solidFill>
                <a:latin typeface="Montserrat"/>
                <a:ea typeface="Montserrat"/>
              </a:rPr>
              <a:t>Other countries show </a:t>
            </a:r>
            <a:r>
              <a:rPr lang="en-US" sz="1950" b="1" dirty="0">
                <a:solidFill>
                  <a:schemeClr val="dk1"/>
                </a:solidFill>
                <a:latin typeface="Montserrat"/>
                <a:ea typeface="Montserrat"/>
              </a:rPr>
              <a:t>low market availability</a:t>
            </a:r>
            <a:r>
              <a:rPr lang="en-US" sz="1950" dirty="0">
                <a:solidFill>
                  <a:schemeClr val="dk1"/>
                </a:solidFill>
                <a:latin typeface="Montserrat"/>
                <a:ea typeface="Montserrat"/>
              </a:rPr>
              <a:t>, indicating growth potential</a:t>
            </a:r>
            <a:r>
              <a:rPr lang="en-US" sz="1950" dirty="0">
                <a:solidFill>
                  <a:schemeClr val="dk1"/>
                </a:solidFill>
                <a:latin typeface="Montserrat"/>
                <a:ea typeface="Montserrat"/>
                <a:sym typeface="Montserrat"/>
              </a:rPr>
              <a:t>.</a:t>
            </a:r>
            <a:endParaRPr sz="1350" dirty="0">
              <a:solidFill>
                <a:schemeClr val="dk1"/>
              </a:solidFill>
              <a:latin typeface="Montserrat"/>
            </a:endParaRPr>
          </a:p>
          <a:p>
            <a:pPr marL="342900" indent="-342900">
              <a:lnSpc>
                <a:spcPct val="150000"/>
              </a:lnSpc>
              <a:buChar char="•"/>
            </a:pPr>
            <a:r>
              <a:rPr lang="en-US" sz="1950" dirty="0">
                <a:solidFill>
                  <a:schemeClr val="dk1"/>
                </a:solidFill>
                <a:latin typeface="Montserrat"/>
              </a:rPr>
              <a:t>The United States is </a:t>
            </a:r>
            <a:r>
              <a:rPr lang="en-US" sz="1950" b="1" dirty="0">
                <a:solidFill>
                  <a:schemeClr val="dk1"/>
                </a:solidFill>
                <a:latin typeface="Montserrat"/>
              </a:rPr>
              <a:t>second</a:t>
            </a:r>
            <a:r>
              <a:rPr lang="en-US" sz="1950" dirty="0">
                <a:solidFill>
                  <a:schemeClr val="dk1"/>
                </a:solidFill>
                <a:latin typeface="Montserrat"/>
              </a:rPr>
              <a:t>, but far below India’s volume.</a:t>
            </a:r>
            <a:endParaRPr lang="en-US" sz="1350" dirty="0">
              <a:solidFill>
                <a:schemeClr val="dk1"/>
              </a:solidFill>
              <a:latin typeface="Montserrat"/>
            </a:endParaRPr>
          </a:p>
          <a:p>
            <a:pPr marL="342900" indent="-342900">
              <a:lnSpc>
                <a:spcPct val="150000"/>
              </a:lnSpc>
              <a:buChar char="•"/>
            </a:pPr>
            <a:r>
              <a:rPr lang="en-US" sz="1950" b="1" dirty="0">
                <a:solidFill>
                  <a:schemeClr val="dk1"/>
                </a:solidFill>
                <a:latin typeface="Montserrat"/>
              </a:rPr>
              <a:t>India remains the primary focus market</a:t>
            </a:r>
            <a:r>
              <a:rPr lang="en-US" sz="1950" dirty="0">
                <a:solidFill>
                  <a:schemeClr val="dk1"/>
                </a:solidFill>
                <a:latin typeface="Montserrat"/>
              </a:rPr>
              <a:t> for business expansion.</a:t>
            </a:r>
            <a:endParaRPr sz="1350" dirty="0">
              <a:solidFill>
                <a:schemeClr val="dk1"/>
              </a:solidFill>
              <a:latin typeface="Montserrat"/>
            </a:endParaRPr>
          </a:p>
          <a:p>
            <a:pPr marL="342900" indent="-342900">
              <a:lnSpc>
                <a:spcPct val="150000"/>
              </a:lnSpc>
              <a:buChar char="•"/>
            </a:pPr>
            <a:endParaRPr lang="en-US" sz="1950" dirty="0">
              <a:solidFill>
                <a:schemeClr val="dk1"/>
              </a:solidFill>
              <a:latin typeface="Montserrat"/>
              <a:ea typeface="Montserra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4FF1FA-5043-631E-0405-BBE3AC8A53C8}"/>
              </a:ext>
            </a:extLst>
          </p:cNvPr>
          <p:cNvSpPr txBox="1"/>
          <p:nvPr/>
        </p:nvSpPr>
        <p:spPr>
          <a:xfrm>
            <a:off x="2952155" y="1768859"/>
            <a:ext cx="7811690" cy="57708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300" b="1" dirty="0">
                <a:solidFill>
                  <a:schemeClr val="accent4">
                    <a:lumMod val="75000"/>
                  </a:schemeClr>
                </a:solidFill>
                <a:latin typeface="Arial Black" panose="020B0A04020102020204" pitchFamily="34" charset="0"/>
              </a:rPr>
              <a:t>Restaurant Presence By Country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683630A1-D8DA-4BF3-BC51-3C7F8CF31F3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99552445"/>
              </p:ext>
            </p:extLst>
          </p:nvPr>
        </p:nvGraphicFramePr>
        <p:xfrm>
          <a:off x="7086600" y="3048595"/>
          <a:ext cx="5359097" cy="40511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9775782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84">
          <a:extLst>
            <a:ext uri="{FF2B5EF4-FFF2-40B4-BE49-F238E27FC236}">
              <a16:creationId xmlns:a16="http://schemas.microsoft.com/office/drawing/2014/main" id="{A51C458C-4F72-9897-7D80-9BF5C00C8D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>
            <a:extLst>
              <a:ext uri="{FF2B5EF4-FFF2-40B4-BE49-F238E27FC236}">
                <a16:creationId xmlns:a16="http://schemas.microsoft.com/office/drawing/2014/main" id="{A1B5AA69-E405-4216-2471-67F6C74D0098}"/>
              </a:ext>
            </a:extLst>
          </p:cNvPr>
          <p:cNvSpPr txBox="1"/>
          <p:nvPr/>
        </p:nvSpPr>
        <p:spPr>
          <a:xfrm>
            <a:off x="1257300" y="2673693"/>
            <a:ext cx="5329238" cy="72019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indent="-342900">
              <a:lnSpc>
                <a:spcPct val="150000"/>
              </a:lnSpc>
              <a:buChar char="•"/>
            </a:pPr>
            <a:r>
              <a:rPr lang="en-US" sz="1950" dirty="0">
                <a:solidFill>
                  <a:schemeClr val="dk1"/>
                </a:solidFill>
                <a:latin typeface="Montserrat"/>
                <a:ea typeface="Montserrat"/>
                <a:sym typeface="Montserrat"/>
              </a:rPr>
              <a:t>Most </a:t>
            </a:r>
            <a:r>
              <a:rPr lang="en-US" sz="1950" dirty="0">
                <a:solidFill>
                  <a:schemeClr val="dk1"/>
                </a:solidFill>
                <a:latin typeface="Montserrat"/>
                <a:ea typeface="Montserrat"/>
              </a:rPr>
              <a:t>countries have </a:t>
            </a:r>
            <a:r>
              <a:rPr lang="en-US" sz="1950" b="1" dirty="0">
                <a:solidFill>
                  <a:schemeClr val="dk1"/>
                </a:solidFill>
                <a:latin typeface="Montserrat"/>
                <a:ea typeface="Montserrat"/>
              </a:rPr>
              <a:t>ratings above 4.0</a:t>
            </a:r>
            <a:r>
              <a:rPr lang="en-US" sz="1950" dirty="0">
                <a:solidFill>
                  <a:schemeClr val="dk1"/>
                </a:solidFill>
                <a:latin typeface="Montserrat"/>
                <a:ea typeface="Montserrat"/>
              </a:rPr>
              <a:t>, indicating </a:t>
            </a:r>
            <a:r>
              <a:rPr lang="en-US" sz="1950" b="1" dirty="0">
                <a:solidFill>
                  <a:schemeClr val="dk1"/>
                </a:solidFill>
                <a:latin typeface="Montserrat"/>
                <a:ea typeface="Montserrat"/>
              </a:rPr>
              <a:t>high customer satisfaction</a:t>
            </a:r>
            <a:r>
              <a:rPr lang="en-US" sz="1950" dirty="0">
                <a:solidFill>
                  <a:schemeClr val="dk1"/>
                </a:solidFill>
                <a:latin typeface="Montserrat"/>
                <a:ea typeface="Montserrat"/>
              </a:rPr>
              <a:t> globally</a:t>
            </a:r>
            <a:r>
              <a:rPr lang="en-US" sz="1950" dirty="0">
                <a:solidFill>
                  <a:schemeClr val="dk1"/>
                </a:solidFill>
                <a:latin typeface="Montserrat"/>
                <a:ea typeface="Montserrat"/>
                <a:sym typeface="Montserrat"/>
              </a:rPr>
              <a:t>.</a:t>
            </a:r>
            <a:endParaRPr lang="en-US" sz="1350" dirty="0">
              <a:solidFill>
                <a:schemeClr val="dk1"/>
              </a:solidFill>
              <a:latin typeface="Montserrat"/>
            </a:endParaRPr>
          </a:p>
          <a:p>
            <a:pPr>
              <a:lnSpc>
                <a:spcPct val="150000"/>
              </a:lnSpc>
            </a:pPr>
            <a:endParaRPr lang="en-US" sz="1950" dirty="0">
              <a:solidFill>
                <a:schemeClr val="dk1"/>
              </a:solidFill>
              <a:latin typeface="Montserrat"/>
            </a:endParaRPr>
          </a:p>
          <a:p>
            <a:pPr marL="342900" indent="-342900">
              <a:lnSpc>
                <a:spcPct val="150000"/>
              </a:lnSpc>
              <a:buChar char="•"/>
            </a:pPr>
            <a:r>
              <a:rPr lang="en-US" sz="1950" b="1" dirty="0">
                <a:solidFill>
                  <a:schemeClr val="dk1"/>
                </a:solidFill>
                <a:latin typeface="Montserrat"/>
              </a:rPr>
              <a:t>Philippines, New Zealand &amp; Turkey</a:t>
            </a:r>
            <a:r>
              <a:rPr lang="en-US" sz="1950" dirty="0">
                <a:solidFill>
                  <a:schemeClr val="dk1"/>
                </a:solidFill>
                <a:latin typeface="Montserrat"/>
              </a:rPr>
              <a:t> show the </a:t>
            </a:r>
            <a:r>
              <a:rPr lang="en-US" sz="1950" b="1" dirty="0">
                <a:solidFill>
                  <a:schemeClr val="dk1"/>
                </a:solidFill>
                <a:latin typeface="Montserrat"/>
              </a:rPr>
              <a:t>highest ratings (~4.3–4.5)</a:t>
            </a:r>
            <a:r>
              <a:rPr lang="en-US" sz="1950" dirty="0">
                <a:solidFill>
                  <a:schemeClr val="dk1"/>
                </a:solidFill>
                <a:latin typeface="Montserrat"/>
              </a:rPr>
              <a:t> → strong service quality.</a:t>
            </a:r>
            <a:endParaRPr lang="en-US" sz="1350" dirty="0">
              <a:solidFill>
                <a:schemeClr val="dk1"/>
              </a:solidFill>
              <a:latin typeface="Montserrat"/>
            </a:endParaRPr>
          </a:p>
          <a:p>
            <a:pPr>
              <a:lnSpc>
                <a:spcPct val="150000"/>
              </a:lnSpc>
            </a:pPr>
            <a:endParaRPr lang="en-US" sz="1950" dirty="0">
              <a:solidFill>
                <a:schemeClr val="dk1"/>
              </a:solidFill>
              <a:latin typeface="Montserrat"/>
            </a:endParaRPr>
          </a:p>
          <a:p>
            <a:pPr marL="342900" indent="-342900">
              <a:lnSpc>
                <a:spcPct val="150000"/>
              </a:lnSpc>
              <a:buChar char="•"/>
            </a:pPr>
            <a:r>
              <a:rPr lang="en-US" sz="1950" b="1" dirty="0">
                <a:solidFill>
                  <a:schemeClr val="dk1"/>
                </a:solidFill>
                <a:latin typeface="Montserrat"/>
              </a:rPr>
              <a:t>India has the lowest rating (2.8)</a:t>
            </a:r>
            <a:r>
              <a:rPr lang="en-US" sz="1950" dirty="0">
                <a:solidFill>
                  <a:schemeClr val="dk1"/>
                </a:solidFill>
                <a:latin typeface="Montserrat"/>
              </a:rPr>
              <a:t>, showing a </a:t>
            </a:r>
            <a:r>
              <a:rPr lang="en-US" sz="1950" b="1" dirty="0">
                <a:solidFill>
                  <a:schemeClr val="dk1"/>
                </a:solidFill>
                <a:latin typeface="Montserrat"/>
              </a:rPr>
              <a:t>quality improvement opportunity</a:t>
            </a:r>
            <a:r>
              <a:rPr lang="en-US" sz="1950" dirty="0">
                <a:solidFill>
                  <a:schemeClr val="dk1"/>
                </a:solidFill>
                <a:latin typeface="Montserrat"/>
              </a:rPr>
              <a:t>.</a:t>
            </a:r>
            <a:endParaRPr lang="en-US" sz="1350" dirty="0">
              <a:solidFill>
                <a:schemeClr val="dk1"/>
              </a:solidFill>
              <a:latin typeface="Montserrat"/>
            </a:endParaRPr>
          </a:p>
          <a:p>
            <a:pPr>
              <a:lnSpc>
                <a:spcPct val="150000"/>
              </a:lnSpc>
            </a:pPr>
            <a:endParaRPr lang="en-US" sz="1950" dirty="0">
              <a:solidFill>
                <a:schemeClr val="dk1"/>
              </a:solidFill>
              <a:latin typeface="Montserrat"/>
            </a:endParaRPr>
          </a:p>
          <a:p>
            <a:pPr marL="342900" indent="-342900">
              <a:lnSpc>
                <a:spcPct val="150000"/>
              </a:lnSpc>
              <a:buChar char="•"/>
            </a:pPr>
            <a:r>
              <a:rPr lang="en-US" sz="1950" dirty="0">
                <a:solidFill>
                  <a:schemeClr val="dk1"/>
                </a:solidFill>
                <a:latin typeface="Montserrat"/>
              </a:rPr>
              <a:t>Overall, ratings remain </a:t>
            </a:r>
            <a:r>
              <a:rPr lang="en-US" sz="1950" b="1" dirty="0">
                <a:solidFill>
                  <a:schemeClr val="dk1"/>
                </a:solidFill>
                <a:latin typeface="Montserrat"/>
              </a:rPr>
              <a:t>consistently positive</a:t>
            </a:r>
            <a:r>
              <a:rPr lang="en-US" sz="1950" dirty="0">
                <a:solidFill>
                  <a:schemeClr val="dk1"/>
                </a:solidFill>
                <a:latin typeface="Montserrat"/>
              </a:rPr>
              <a:t>, reflecting </a:t>
            </a:r>
            <a:r>
              <a:rPr lang="en-US" sz="1950" b="1" dirty="0">
                <a:solidFill>
                  <a:schemeClr val="dk1"/>
                </a:solidFill>
                <a:latin typeface="Montserrat"/>
              </a:rPr>
              <a:t>good dining experiences</a:t>
            </a:r>
            <a:r>
              <a:rPr lang="en-US" sz="1950" dirty="0">
                <a:solidFill>
                  <a:schemeClr val="dk1"/>
                </a:solidFill>
                <a:latin typeface="Montserrat"/>
              </a:rPr>
              <a:t> worldwide.</a:t>
            </a:r>
            <a:endParaRPr sz="1350" dirty="0">
              <a:solidFill>
                <a:schemeClr val="dk1"/>
              </a:solidFill>
              <a:latin typeface="Montserrat"/>
            </a:endParaRPr>
          </a:p>
          <a:p>
            <a:pPr marL="342900" indent="-342900">
              <a:lnSpc>
                <a:spcPct val="150000"/>
              </a:lnSpc>
              <a:buChar char="•"/>
            </a:pPr>
            <a:endParaRPr lang="en-US" sz="1950" dirty="0">
              <a:solidFill>
                <a:schemeClr val="dk1"/>
              </a:solidFill>
              <a:latin typeface="Montserrat"/>
              <a:ea typeface="Montserra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7510F2-6F25-B188-27C8-404D7C65191F}"/>
              </a:ext>
            </a:extLst>
          </p:cNvPr>
          <p:cNvSpPr txBox="1"/>
          <p:nvPr/>
        </p:nvSpPr>
        <p:spPr>
          <a:xfrm>
            <a:off x="2244923" y="1516038"/>
            <a:ext cx="9226153" cy="57708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300" b="1" dirty="0">
                <a:solidFill>
                  <a:schemeClr val="accent4">
                    <a:lumMod val="75000"/>
                  </a:schemeClr>
                </a:solidFill>
                <a:latin typeface="Arial Black" panose="020B0A04020102020204" pitchFamily="34" charset="0"/>
              </a:rPr>
              <a:t>Average Restaurant Ratings by Country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641D9F37-D2B1-42B0-8228-63A2AABB213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87048100"/>
              </p:ext>
            </p:extLst>
          </p:nvPr>
        </p:nvGraphicFramePr>
        <p:xfrm>
          <a:off x="6986588" y="3575448"/>
          <a:ext cx="5572125" cy="36325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6243014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84">
          <a:extLst>
            <a:ext uri="{FF2B5EF4-FFF2-40B4-BE49-F238E27FC236}">
              <a16:creationId xmlns:a16="http://schemas.microsoft.com/office/drawing/2014/main" id="{FB6CF47A-70DC-C8E6-5E5C-AAE9766A2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>
            <a:extLst>
              <a:ext uri="{FF2B5EF4-FFF2-40B4-BE49-F238E27FC236}">
                <a16:creationId xmlns:a16="http://schemas.microsoft.com/office/drawing/2014/main" id="{8CFFAF5F-E8B3-BADE-37C4-11982400E626}"/>
              </a:ext>
            </a:extLst>
          </p:cNvPr>
          <p:cNvSpPr txBox="1"/>
          <p:nvPr/>
        </p:nvSpPr>
        <p:spPr>
          <a:xfrm>
            <a:off x="1168003" y="3214689"/>
            <a:ext cx="5400675" cy="58516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indent="-342900">
              <a:lnSpc>
                <a:spcPct val="150000"/>
              </a:lnSpc>
              <a:buChar char="•"/>
            </a:pPr>
            <a:r>
              <a:rPr lang="en-US" sz="1950" b="1" dirty="0">
                <a:solidFill>
                  <a:schemeClr val="dk1"/>
                </a:solidFill>
                <a:latin typeface="Montserrat"/>
                <a:sym typeface="Montserrat"/>
              </a:rPr>
              <a:t>Singapore is</a:t>
            </a:r>
            <a:r>
              <a:rPr lang="en-US" sz="1950" b="1" dirty="0">
                <a:solidFill>
                  <a:schemeClr val="dk1"/>
                </a:solidFill>
                <a:latin typeface="Montserrat"/>
              </a:rPr>
              <a:t> the most expensive</a:t>
            </a:r>
            <a:r>
              <a:rPr lang="en-US" sz="1950" dirty="0">
                <a:solidFill>
                  <a:schemeClr val="dk1"/>
                </a:solidFill>
                <a:latin typeface="Montserrat"/>
              </a:rPr>
              <a:t> (₹13,924), far above others.</a:t>
            </a:r>
            <a:endParaRPr lang="en-US" sz="1350" dirty="0">
              <a:solidFill>
                <a:schemeClr val="dk1"/>
              </a:solidFill>
              <a:latin typeface="Montserrat"/>
            </a:endParaRPr>
          </a:p>
          <a:p>
            <a:pPr>
              <a:lnSpc>
                <a:spcPct val="150000"/>
              </a:lnSpc>
            </a:pPr>
            <a:endParaRPr lang="en-US" sz="1950" dirty="0">
              <a:solidFill>
                <a:schemeClr val="dk1"/>
              </a:solidFill>
              <a:latin typeface="Montserrat"/>
            </a:endParaRPr>
          </a:p>
          <a:p>
            <a:pPr marL="342900" indent="-342900">
              <a:lnSpc>
                <a:spcPct val="150000"/>
              </a:lnSpc>
              <a:buChar char="•"/>
            </a:pPr>
            <a:r>
              <a:rPr lang="en-US" sz="1950" b="1" dirty="0">
                <a:solidFill>
                  <a:schemeClr val="dk1"/>
                </a:solidFill>
                <a:latin typeface="Montserrat"/>
              </a:rPr>
              <a:t>India Sri Lanka and Turkey are the cheapest</a:t>
            </a:r>
            <a:r>
              <a:rPr lang="en-US" sz="1950" dirty="0">
                <a:solidFill>
                  <a:schemeClr val="dk1"/>
                </a:solidFill>
                <a:latin typeface="Montserrat"/>
              </a:rPr>
              <a:t> dining options.</a:t>
            </a:r>
            <a:endParaRPr lang="en-US" sz="1350" dirty="0">
              <a:solidFill>
                <a:schemeClr val="dk1"/>
              </a:solidFill>
              <a:latin typeface="Montserrat"/>
            </a:endParaRPr>
          </a:p>
          <a:p>
            <a:pPr>
              <a:lnSpc>
                <a:spcPct val="150000"/>
              </a:lnSpc>
            </a:pPr>
            <a:endParaRPr lang="en-US" sz="1950" dirty="0">
              <a:solidFill>
                <a:schemeClr val="dk1"/>
              </a:solidFill>
              <a:latin typeface="Montserrat"/>
            </a:endParaRPr>
          </a:p>
          <a:p>
            <a:pPr marL="342900" indent="-342900">
              <a:lnSpc>
                <a:spcPct val="150000"/>
              </a:lnSpc>
              <a:buChar char="•"/>
            </a:pPr>
            <a:r>
              <a:rPr lang="en-US" sz="1950" b="1" dirty="0">
                <a:solidFill>
                  <a:schemeClr val="dk1"/>
                </a:solidFill>
                <a:latin typeface="Montserrat"/>
              </a:rPr>
              <a:t>Qatar ,Canada and UAE</a:t>
            </a:r>
            <a:r>
              <a:rPr lang="en-US" sz="1950" dirty="0">
                <a:solidFill>
                  <a:schemeClr val="dk1"/>
                </a:solidFill>
                <a:latin typeface="Montserrat"/>
              </a:rPr>
              <a:t> fall in the mid-to-high cost range.</a:t>
            </a:r>
            <a:endParaRPr lang="en-US" sz="1350" dirty="0">
              <a:solidFill>
                <a:schemeClr val="dk1"/>
              </a:solidFill>
              <a:latin typeface="Montserrat"/>
            </a:endParaRPr>
          </a:p>
          <a:p>
            <a:pPr>
              <a:lnSpc>
                <a:spcPct val="150000"/>
              </a:lnSpc>
            </a:pPr>
            <a:endParaRPr lang="en-US" sz="1950" dirty="0">
              <a:solidFill>
                <a:schemeClr val="dk1"/>
              </a:solidFill>
              <a:latin typeface="Montserrat"/>
            </a:endParaRPr>
          </a:p>
          <a:p>
            <a:pPr marL="342900" indent="-342900">
              <a:lnSpc>
                <a:spcPct val="150000"/>
              </a:lnSpc>
              <a:buChar char="•"/>
            </a:pPr>
            <a:r>
              <a:rPr lang="en-US" sz="1950" dirty="0">
                <a:solidFill>
                  <a:schemeClr val="dk1"/>
                </a:solidFill>
                <a:latin typeface="Montserrat"/>
              </a:rPr>
              <a:t>Costs reflect </a:t>
            </a:r>
            <a:r>
              <a:rPr lang="en-US" sz="1950" b="1" dirty="0">
                <a:solidFill>
                  <a:schemeClr val="dk1"/>
                </a:solidFill>
                <a:latin typeface="Montserrat"/>
              </a:rPr>
              <a:t>big lifestyle and purchasing power gaps</a:t>
            </a:r>
            <a:r>
              <a:rPr lang="en-US" sz="1950" dirty="0">
                <a:solidFill>
                  <a:schemeClr val="dk1"/>
                </a:solidFill>
                <a:latin typeface="Montserrat"/>
              </a:rPr>
              <a:t> across countries.</a:t>
            </a:r>
            <a:endParaRPr lang="en-US" sz="1350" dirty="0">
              <a:solidFill>
                <a:schemeClr val="dk1"/>
              </a:solidFill>
              <a:latin typeface="Montserrat"/>
            </a:endParaRPr>
          </a:p>
          <a:p>
            <a:pPr marL="342900" indent="-342900">
              <a:lnSpc>
                <a:spcPct val="150000"/>
              </a:lnSpc>
              <a:buChar char="•"/>
            </a:pPr>
            <a:endParaRPr lang="en-US" sz="1950" dirty="0">
              <a:solidFill>
                <a:schemeClr val="dk1"/>
              </a:solidFill>
              <a:latin typeface="Montserrat"/>
              <a:ea typeface="Montserra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28A2E4-9D6E-4EE5-1281-3DEDF6D15B1B}"/>
              </a:ext>
            </a:extLst>
          </p:cNvPr>
          <p:cNvSpPr txBox="1"/>
          <p:nvPr/>
        </p:nvSpPr>
        <p:spPr>
          <a:xfrm>
            <a:off x="2893219" y="1682354"/>
            <a:ext cx="8165306" cy="57708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300" b="1" dirty="0">
                <a:solidFill>
                  <a:schemeClr val="accent4">
                    <a:lumMod val="75000"/>
                  </a:schemeClr>
                </a:solidFill>
                <a:latin typeface="Arial Black" panose="020B0A04020102020204" pitchFamily="34" charset="0"/>
              </a:rPr>
              <a:t>Average Cost Of Two(INR)</a:t>
            </a:r>
            <a:endParaRPr lang="en-US" sz="1350" b="1" dirty="0">
              <a:solidFill>
                <a:schemeClr val="accent4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A3684CAD-54B2-467F-8D5E-5B8BE4D2293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60653945"/>
              </p:ext>
            </p:extLst>
          </p:nvPr>
        </p:nvGraphicFramePr>
        <p:xfrm>
          <a:off x="6975872" y="3763116"/>
          <a:ext cx="5400675" cy="336634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085037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/>
        </p:nvSpPr>
        <p:spPr>
          <a:xfrm>
            <a:off x="2799150" y="1549350"/>
            <a:ext cx="8618850" cy="11934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235454"/>
              </a:lnSpc>
              <a:buClr>
                <a:srgbClr val="000000"/>
              </a:buClr>
              <a:buSzPts val="4400"/>
            </a:pPr>
            <a:r>
              <a:rPr lang="en-US" sz="3300" b="1" dirty="0">
                <a:solidFill>
                  <a:schemeClr val="accent4">
                    <a:lumMod val="75000"/>
                  </a:schemeClr>
                </a:solidFill>
                <a:latin typeface="Arial Black" panose="020B0A04020102020204" pitchFamily="34" charset="0"/>
                <a:ea typeface="Montserrat"/>
                <a:cs typeface="Montserrat"/>
                <a:sym typeface="Montserrat"/>
              </a:rPr>
              <a:t>Analysis – Opening New Restaurants</a:t>
            </a:r>
            <a:endParaRPr sz="1050" b="1" dirty="0">
              <a:solidFill>
                <a:schemeClr val="accent4">
                  <a:lumMod val="75000"/>
                </a:schemeClr>
              </a:solidFill>
              <a:latin typeface="Arial Black" panose="020B0A04020102020204" pitchFamily="34" charset="0"/>
              <a:ea typeface="Montserrat"/>
              <a:cs typeface="Montserrat"/>
              <a:sym typeface="Montserrat"/>
            </a:endParaRPr>
          </a:p>
        </p:txBody>
      </p:sp>
      <p:sp>
        <p:nvSpPr>
          <p:cNvPr id="79" name="Google Shape;79;p16"/>
          <p:cNvSpPr txBox="1"/>
          <p:nvPr/>
        </p:nvSpPr>
        <p:spPr>
          <a:xfrm>
            <a:off x="1655532" y="3725494"/>
            <a:ext cx="9762468" cy="4501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dk1"/>
              </a:buClr>
              <a:buSzPts val="2799"/>
              <a:buChar char="•"/>
            </a:pPr>
            <a:r>
              <a:rPr lang="en-US" sz="1950" dirty="0">
                <a:solidFill>
                  <a:schemeClr val="dk1"/>
                </a:solidFill>
                <a:latin typeface="Montserrat"/>
                <a:ea typeface="Montserrat"/>
                <a:sym typeface="Montserrat"/>
              </a:rPr>
              <a:t>Identify countries with lower competition levels.</a:t>
            </a:r>
            <a:endParaRPr lang="en-US" sz="1950" dirty="0">
              <a:solidFill>
                <a:schemeClr val="dk1"/>
              </a:solidFill>
              <a:latin typeface="Montserrat"/>
              <a:ea typeface="Montserrat"/>
            </a:endParaRPr>
          </a:p>
          <a:p>
            <a:pPr marL="342900" indent="-342900">
              <a:lnSpc>
                <a:spcPct val="150000"/>
              </a:lnSpc>
              <a:buSzPts val="2799"/>
              <a:buChar char="•"/>
            </a:pPr>
            <a:r>
              <a:rPr lang="en-US" sz="1950" dirty="0">
                <a:solidFill>
                  <a:schemeClr val="dk1"/>
                </a:solidFill>
                <a:latin typeface="Montserrat"/>
                <a:ea typeface="Montserrat"/>
                <a:sym typeface="Montserrat"/>
              </a:rPr>
              <a:t>Suggest suitable cities and states for new restaurant openings.</a:t>
            </a:r>
            <a:endParaRPr sz="1350" dirty="0">
              <a:solidFill>
                <a:schemeClr val="dk1"/>
              </a:solidFill>
              <a:latin typeface="Montserrat"/>
            </a:endParaRPr>
          </a:p>
          <a:p>
            <a:pPr marL="342900" indent="-342900">
              <a:lnSpc>
                <a:spcPct val="150000"/>
              </a:lnSpc>
              <a:buSzPts val="2799"/>
              <a:buChar char="•"/>
            </a:pPr>
            <a:r>
              <a:rPr lang="en-US" sz="1950" dirty="0">
                <a:solidFill>
                  <a:schemeClr val="dk1"/>
                </a:solidFill>
                <a:latin typeface="Montserrat"/>
                <a:ea typeface="Montserrat"/>
                <a:sym typeface="Montserrat"/>
              </a:rPr>
              <a:t>Analyze restaurant ratings in the targeted countries.</a:t>
            </a:r>
            <a:endParaRPr sz="1350" dirty="0">
              <a:solidFill>
                <a:schemeClr val="dk1"/>
              </a:solidFill>
              <a:latin typeface="Montserrat"/>
            </a:endParaRPr>
          </a:p>
          <a:p>
            <a:pPr marL="342900" indent="-342900">
              <a:lnSpc>
                <a:spcPct val="150000"/>
              </a:lnSpc>
              <a:buSzPts val="2799"/>
              <a:buChar char="•"/>
            </a:pPr>
            <a:r>
              <a:rPr lang="en-US" sz="1950" dirty="0">
                <a:solidFill>
                  <a:schemeClr val="dk1"/>
                </a:solidFill>
                <a:latin typeface="Montserrat"/>
                <a:ea typeface="Montserrat"/>
                <a:sym typeface="Montserrat"/>
              </a:rPr>
              <a:t>Study food expenditure trends in the selected regions.</a:t>
            </a:r>
            <a:endParaRPr sz="1350" dirty="0">
              <a:solidFill>
                <a:schemeClr val="dk1"/>
              </a:solidFill>
              <a:latin typeface="Montserrat"/>
            </a:endParaRPr>
          </a:p>
          <a:p>
            <a:pPr marL="342900" indent="-342900">
              <a:lnSpc>
                <a:spcPct val="150000"/>
              </a:lnSpc>
              <a:buSzPts val="2799"/>
              <a:buChar char="•"/>
            </a:pPr>
            <a:r>
              <a:rPr lang="en-US" sz="1950" dirty="0">
                <a:solidFill>
                  <a:schemeClr val="dk1"/>
                </a:solidFill>
                <a:latin typeface="Montserrat"/>
                <a:ea typeface="Montserrat"/>
                <a:sym typeface="Montserrat"/>
              </a:rPr>
              <a:t>Examine major competitors in the market.</a:t>
            </a:r>
            <a:endParaRPr sz="1350" dirty="0">
              <a:solidFill>
                <a:schemeClr val="dk1"/>
              </a:solidFill>
              <a:latin typeface="Montserrat"/>
            </a:endParaRPr>
          </a:p>
          <a:p>
            <a:pPr marL="342900" indent="-342900">
              <a:lnSpc>
                <a:spcPct val="150000"/>
              </a:lnSpc>
              <a:buSzPts val="2799"/>
              <a:buChar char="•"/>
            </a:pPr>
            <a:r>
              <a:rPr lang="en-US" sz="1950" dirty="0">
                <a:solidFill>
                  <a:schemeClr val="dk1"/>
                </a:solidFill>
                <a:latin typeface="Montserrat"/>
                <a:ea typeface="Montserrat"/>
                <a:sym typeface="Montserrat"/>
              </a:rPr>
              <a:t>Evaluate cuisine demand and growth opportunities.</a:t>
            </a:r>
            <a:endParaRPr sz="1350" dirty="0">
              <a:solidFill>
                <a:schemeClr val="dk1"/>
              </a:solidFill>
              <a:latin typeface="Montserrat"/>
            </a:endParaRPr>
          </a:p>
          <a:p>
            <a:pPr marL="342900" indent="-342900">
              <a:lnSpc>
                <a:spcPct val="150000"/>
              </a:lnSpc>
              <a:buSzPts val="2799"/>
              <a:buChar char="•"/>
            </a:pPr>
            <a:r>
              <a:rPr lang="en-US" sz="1950" dirty="0">
                <a:solidFill>
                  <a:schemeClr val="dk1"/>
                </a:solidFill>
                <a:latin typeface="Montserrat"/>
                <a:ea typeface="Montserrat"/>
                <a:sym typeface="Montserrat"/>
              </a:rPr>
              <a:t>Review trends in online bookings and table deliveries.</a:t>
            </a:r>
            <a:endParaRPr sz="1350" dirty="0">
              <a:solidFill>
                <a:schemeClr val="dk1"/>
              </a:solidFill>
              <a:latin typeface="Montserrat"/>
            </a:endParaRPr>
          </a:p>
          <a:p>
            <a:pPr marL="342900" indent="-342900">
              <a:lnSpc>
                <a:spcPct val="150000"/>
              </a:lnSpc>
              <a:buSzPts val="2799"/>
              <a:buChar char="•"/>
            </a:pPr>
            <a:r>
              <a:rPr lang="en-US" sz="1950" dirty="0">
                <a:solidFill>
                  <a:schemeClr val="dk1"/>
                </a:solidFill>
                <a:latin typeface="Montserrat"/>
                <a:ea typeface="Montserrat"/>
                <a:sym typeface="Montserrat"/>
              </a:rPr>
              <a:t>Analyze the correlation between cuisine popularity and customer ratings.</a:t>
            </a:r>
            <a:endParaRPr lang="en-US" sz="1350" dirty="0">
              <a:solidFill>
                <a:schemeClr val="dk1"/>
              </a:solidFill>
              <a:latin typeface="Montserrat"/>
            </a:endParaRPr>
          </a:p>
          <a:p>
            <a:pPr>
              <a:lnSpc>
                <a:spcPct val="150000"/>
              </a:lnSpc>
              <a:buClr>
                <a:schemeClr val="dk1"/>
              </a:buClr>
              <a:buSzPts val="2799"/>
            </a:pPr>
            <a:endParaRPr lang="en-US" sz="1950" dirty="0">
              <a:solidFill>
                <a:schemeClr val="dk1"/>
              </a:solidFill>
              <a:latin typeface="Montserrat"/>
              <a:ea typeface="Montserrat"/>
            </a:endParaRPr>
          </a:p>
          <a:p>
            <a:pPr marL="381476" indent="-342900">
              <a:lnSpc>
                <a:spcPct val="150000"/>
              </a:lnSpc>
              <a:buClr>
                <a:schemeClr val="dk1"/>
              </a:buClr>
              <a:buSzPts val="2799"/>
              <a:buChar char="•"/>
            </a:pPr>
            <a:endParaRPr lang="en-US" sz="1950" dirty="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84">
          <a:extLst>
            <a:ext uri="{FF2B5EF4-FFF2-40B4-BE49-F238E27FC236}">
              <a16:creationId xmlns:a16="http://schemas.microsoft.com/office/drawing/2014/main" id="{4FFD781F-2759-D79B-09A7-7E518F47F1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>
            <a:extLst>
              <a:ext uri="{FF2B5EF4-FFF2-40B4-BE49-F238E27FC236}">
                <a16:creationId xmlns:a16="http://schemas.microsoft.com/office/drawing/2014/main" id="{AF97580E-BAD8-D2D6-27FD-276A037ABB75}"/>
              </a:ext>
            </a:extLst>
          </p:cNvPr>
          <p:cNvSpPr txBox="1"/>
          <p:nvPr/>
        </p:nvSpPr>
        <p:spPr>
          <a:xfrm>
            <a:off x="1157287" y="2816569"/>
            <a:ext cx="6057900" cy="6301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indent="-342900">
              <a:lnSpc>
                <a:spcPct val="150000"/>
              </a:lnSpc>
              <a:buChar char="•"/>
            </a:pPr>
            <a:r>
              <a:rPr lang="en-US" sz="1950" b="1" dirty="0">
                <a:solidFill>
                  <a:schemeClr val="dk1"/>
                </a:solidFill>
                <a:latin typeface="Montserrat"/>
                <a:ea typeface="Montserrat"/>
                <a:sym typeface="Montserrat"/>
              </a:rPr>
              <a:t>New Restaurant Location Strategy</a:t>
            </a:r>
            <a:endParaRPr lang="en-US" sz="1350" dirty="0">
              <a:solidFill>
                <a:schemeClr val="dk1"/>
              </a:solidFill>
              <a:latin typeface="Montserrat"/>
            </a:endParaRPr>
          </a:p>
          <a:p>
            <a:pPr marL="342900" indent="-342900">
              <a:lnSpc>
                <a:spcPct val="150000"/>
              </a:lnSpc>
              <a:buChar char="•"/>
            </a:pPr>
            <a:r>
              <a:rPr lang="en-US" sz="1950" dirty="0">
                <a:solidFill>
                  <a:schemeClr val="dk1"/>
                </a:solidFill>
                <a:latin typeface="Montserrat"/>
                <a:ea typeface="Montserrat"/>
                <a:sym typeface="Montserrat"/>
              </a:rPr>
              <a:t>The selection of expansion countries is based on two main factors:</a:t>
            </a:r>
            <a:endParaRPr sz="1350" dirty="0">
              <a:solidFill>
                <a:schemeClr val="dk1"/>
              </a:solidFill>
              <a:latin typeface="Montserrat"/>
            </a:endParaRPr>
          </a:p>
          <a:p>
            <a:pPr marL="342900" indent="-342900">
              <a:lnSpc>
                <a:spcPct val="150000"/>
              </a:lnSpc>
              <a:buChar char="•"/>
            </a:pPr>
            <a:r>
              <a:rPr lang="en-US" sz="1950" b="1" dirty="0">
                <a:solidFill>
                  <a:schemeClr val="dk1"/>
                </a:solidFill>
                <a:latin typeface="Montserrat"/>
                <a:ea typeface="Montserrat"/>
                <a:sym typeface="Montserrat"/>
              </a:rPr>
              <a:t>Lower Market Competition</a:t>
            </a:r>
            <a:r>
              <a:rPr lang="en-US" sz="1950" dirty="0">
                <a:solidFill>
                  <a:schemeClr val="dk1"/>
                </a:solidFill>
                <a:latin typeface="Montserrat"/>
                <a:ea typeface="Montserrat"/>
                <a:sym typeface="Montserrat"/>
              </a:rPr>
              <a:t> – Allows Zomato to enter and grow easily in underserved regions.</a:t>
            </a:r>
            <a:endParaRPr sz="1350" dirty="0">
              <a:solidFill>
                <a:schemeClr val="dk1"/>
              </a:solidFill>
              <a:latin typeface="Montserrat"/>
            </a:endParaRPr>
          </a:p>
          <a:p>
            <a:pPr marL="342900" indent="-342900">
              <a:lnSpc>
                <a:spcPct val="150000"/>
              </a:lnSpc>
              <a:buChar char="•"/>
            </a:pPr>
            <a:r>
              <a:rPr lang="en-US" sz="1950" b="1" dirty="0">
                <a:solidFill>
                  <a:schemeClr val="dk1"/>
                </a:solidFill>
                <a:latin typeface="Montserrat"/>
                <a:ea typeface="Montserrat"/>
              </a:rPr>
              <a:t>Moderate to Good Ratings</a:t>
            </a:r>
            <a:r>
              <a:rPr lang="en-US" sz="1950" dirty="0">
                <a:solidFill>
                  <a:schemeClr val="dk1"/>
                </a:solidFill>
                <a:latin typeface="Montserrat"/>
                <a:ea typeface="Montserrat"/>
              </a:rPr>
              <a:t> </a:t>
            </a:r>
            <a:r>
              <a:rPr lang="en-US" sz="1950" dirty="0">
                <a:solidFill>
                  <a:schemeClr val="dk1"/>
                </a:solidFill>
                <a:latin typeface="Montserrat"/>
                <a:ea typeface="Montserrat"/>
                <a:sym typeface="Montserrat"/>
              </a:rPr>
              <a:t>– Indicates that customers are generally satisfied with existing restaurants, showing a healthy demand and scope for better options.</a:t>
            </a:r>
            <a:endParaRPr sz="1350" dirty="0">
              <a:solidFill>
                <a:schemeClr val="dk1"/>
              </a:solidFill>
              <a:latin typeface="Montserrat"/>
            </a:endParaRPr>
          </a:p>
          <a:p>
            <a:pPr marL="342900" indent="-342900">
              <a:lnSpc>
                <a:spcPct val="150000"/>
              </a:lnSpc>
              <a:buChar char="•"/>
            </a:pPr>
            <a:r>
              <a:rPr lang="en-US" sz="1950" b="1" dirty="0">
                <a:solidFill>
                  <a:schemeClr val="dk1"/>
                </a:solidFill>
                <a:latin typeface="Montserrat"/>
              </a:rPr>
              <a:t>Suggested Countries for Expansion:</a:t>
            </a:r>
            <a:br>
              <a:rPr lang="en-US" sz="1950" b="1" dirty="0">
                <a:latin typeface="Montserrat"/>
              </a:rPr>
            </a:br>
            <a:r>
              <a:rPr lang="en-US" sz="1950" b="1" dirty="0">
                <a:solidFill>
                  <a:schemeClr val="dk1"/>
                </a:solidFill>
                <a:latin typeface="Montserrat"/>
              </a:rPr>
              <a:t> Indonesia, Philippines, New Zealand, and Qatar.</a:t>
            </a:r>
            <a:endParaRPr sz="1350" dirty="0">
              <a:solidFill>
                <a:schemeClr val="dk1"/>
              </a:solidFill>
              <a:latin typeface="Montserrat"/>
            </a:endParaRPr>
          </a:p>
          <a:p>
            <a:pPr marL="342900" indent="-342900">
              <a:lnSpc>
                <a:spcPct val="150000"/>
              </a:lnSpc>
              <a:buSzPts val="2900"/>
              <a:buChar char="•"/>
            </a:pPr>
            <a:endParaRPr lang="en-US" sz="1950" b="1" dirty="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21D9C2-A482-8B7A-D62B-EDBC7CE84AE1}"/>
              </a:ext>
            </a:extLst>
          </p:cNvPr>
          <p:cNvSpPr txBox="1"/>
          <p:nvPr/>
        </p:nvSpPr>
        <p:spPr>
          <a:xfrm>
            <a:off x="4879181" y="1385888"/>
            <a:ext cx="4672013" cy="57708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300" b="1" dirty="0">
                <a:solidFill>
                  <a:schemeClr val="accent4">
                    <a:lumMod val="75000"/>
                  </a:schemeClr>
                </a:solidFill>
                <a:latin typeface="Arial Black" panose="020B0A04020102020204" pitchFamily="34" charset="0"/>
              </a:rPr>
              <a:t>Country </a:t>
            </a:r>
            <a:r>
              <a:rPr lang="en-US" sz="1350" dirty="0">
                <a:solidFill>
                  <a:schemeClr val="accent4">
                    <a:lumMod val="75000"/>
                  </a:schemeClr>
                </a:solidFill>
                <a:latin typeface="Arial Black" panose="020B0A04020102020204" pitchFamily="34" charset="0"/>
              </a:rPr>
              <a:t> </a:t>
            </a:r>
            <a:r>
              <a:rPr lang="en-US" sz="3300" b="1" dirty="0">
                <a:solidFill>
                  <a:schemeClr val="accent4">
                    <a:lumMod val="75000"/>
                  </a:schemeClr>
                </a:solidFill>
                <a:latin typeface="Arial Black" panose="020B0A04020102020204" pitchFamily="34" charset="0"/>
              </a:rPr>
              <a:t>Analysis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3588ADE-7FC9-4305-B0E1-449D3BE794F8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7725967" y="3807619"/>
            <a:ext cx="4460081" cy="300037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093412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/>
          <p:nvPr/>
        </p:nvSpPr>
        <p:spPr>
          <a:xfrm>
            <a:off x="5349616" y="1055101"/>
            <a:ext cx="3016768" cy="1386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273148"/>
              </a:lnSpc>
              <a:buSzPts val="5400"/>
            </a:pPr>
            <a:r>
              <a:rPr lang="en-US" sz="3300" b="1" dirty="0">
                <a:solidFill>
                  <a:schemeClr val="accent4">
                    <a:lumMod val="75000"/>
                  </a:schemeClr>
                </a:solidFill>
                <a:latin typeface="Arial Black" panose="020B0A04020102020204" pitchFamily="34" charset="0"/>
                <a:sym typeface="Montserrat"/>
              </a:rPr>
              <a:t>City Analysis</a:t>
            </a:r>
            <a:endParaRPr sz="3300" b="1" dirty="0">
              <a:solidFill>
                <a:schemeClr val="accent4">
                  <a:lumMod val="75000"/>
                </a:schemeClr>
              </a:solidFill>
              <a:latin typeface="Arial Black" panose="020B0A04020102020204" pitchFamily="34" charset="0"/>
              <a:sym typeface="Montserrat"/>
            </a:endParaRPr>
          </a:p>
        </p:txBody>
      </p:sp>
      <p:sp>
        <p:nvSpPr>
          <p:cNvPr id="94" name="Google Shape;94;p18"/>
          <p:cNvSpPr txBox="1"/>
          <p:nvPr/>
        </p:nvSpPr>
        <p:spPr>
          <a:xfrm>
            <a:off x="1414223" y="2706768"/>
            <a:ext cx="6243636" cy="6059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chemeClr val="dk1"/>
                </a:solidFill>
                <a:latin typeface="Montserrat"/>
                <a:ea typeface="Montserrat"/>
              </a:rPr>
              <a:t>Cities:</a:t>
            </a:r>
            <a:endParaRPr lang="en-US" sz="2400" dirty="0">
              <a:solidFill>
                <a:schemeClr val="dk1"/>
              </a:solidFill>
              <a:ea typeface="Montserrat"/>
            </a:endParaRPr>
          </a:p>
          <a:p>
            <a:pPr lvl="3" indent="-342900">
              <a:lnSpc>
                <a:spcPct val="150000"/>
              </a:lnSpc>
              <a:buFont typeface="Wingdings"/>
              <a:buChar char="§"/>
            </a:pPr>
            <a:r>
              <a:rPr lang="en-US" sz="1950" b="1" dirty="0">
                <a:solidFill>
                  <a:schemeClr val="dk1"/>
                </a:solidFill>
                <a:ea typeface="Montserrat"/>
              </a:rPr>
              <a:t>      Bandung</a:t>
            </a:r>
            <a:endParaRPr lang="en-US" sz="1350" b="1" dirty="0">
              <a:solidFill>
                <a:schemeClr val="dk1"/>
              </a:solidFill>
              <a:ea typeface="Montserrat"/>
            </a:endParaRPr>
          </a:p>
          <a:p>
            <a:pPr lvl="3" indent="-342900">
              <a:lnSpc>
                <a:spcPct val="150000"/>
              </a:lnSpc>
              <a:buFont typeface="Wingdings"/>
              <a:buChar char="§"/>
            </a:pPr>
            <a:r>
              <a:rPr lang="en-US" sz="1950" b="1" dirty="0">
                <a:solidFill>
                  <a:schemeClr val="dk1"/>
                </a:solidFill>
                <a:ea typeface="Montserrat"/>
              </a:rPr>
              <a:t>      Quezon City</a:t>
            </a:r>
            <a:endParaRPr lang="en-US" sz="1350" b="1" dirty="0">
              <a:solidFill>
                <a:schemeClr val="dk1"/>
              </a:solidFill>
              <a:ea typeface="Montserrat"/>
            </a:endParaRPr>
          </a:p>
          <a:p>
            <a:pPr lvl="3" indent="-342900">
              <a:lnSpc>
                <a:spcPct val="150000"/>
              </a:lnSpc>
              <a:buFont typeface="Wingdings"/>
              <a:buChar char="§"/>
            </a:pPr>
            <a:r>
              <a:rPr lang="en-US" sz="1950" b="1" dirty="0">
                <a:solidFill>
                  <a:schemeClr val="dk1"/>
                </a:solidFill>
                <a:ea typeface="Montserrat"/>
              </a:rPr>
              <a:t>      Tagaytay City </a:t>
            </a:r>
            <a:endParaRPr lang="en-US" sz="1350" dirty="0">
              <a:solidFill>
                <a:schemeClr val="dk1"/>
              </a:solidFill>
              <a:ea typeface="Montserrat"/>
            </a:endParaRPr>
          </a:p>
          <a:p>
            <a:pPr marL="1028700" lvl="3">
              <a:lnSpc>
                <a:spcPct val="150000"/>
              </a:lnSpc>
            </a:pPr>
            <a:endParaRPr lang="en-US" sz="1950" b="1" dirty="0">
              <a:solidFill>
                <a:schemeClr val="dk1"/>
              </a:solidFill>
              <a:ea typeface="Montserrat"/>
            </a:endParaRP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chemeClr val="dk1"/>
                </a:solidFill>
                <a:latin typeface="Montserrat"/>
                <a:ea typeface="Montserrat"/>
              </a:rPr>
              <a:t>Why These Cities :</a:t>
            </a:r>
            <a:endParaRPr lang="en-US" sz="2100" dirty="0">
              <a:solidFill>
                <a:schemeClr val="dk1"/>
              </a:solidFill>
              <a:ea typeface="Montserrat"/>
            </a:endParaRPr>
          </a:p>
          <a:p>
            <a:pPr marL="342900" indent="-342900">
              <a:lnSpc>
                <a:spcPct val="150000"/>
              </a:lnSpc>
              <a:buChar char="•"/>
            </a:pPr>
            <a:r>
              <a:rPr lang="en-US" sz="1950" dirty="0">
                <a:solidFill>
                  <a:schemeClr val="dk1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</a:rPr>
              <a:t>⭐ </a:t>
            </a:r>
            <a:r>
              <a:rPr lang="en-US" sz="1950" b="1" dirty="0">
                <a:solidFill>
                  <a:schemeClr val="dk1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</a:rPr>
              <a:t>High Ratings:</a:t>
            </a:r>
            <a:r>
              <a:rPr lang="en-US" sz="1950" dirty="0">
                <a:solidFill>
                  <a:schemeClr val="dk1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</a:rPr>
              <a:t> Avg. restaurant ratings &gt; 4.0 →    Customers are satisfied</a:t>
            </a:r>
            <a:endParaRPr lang="en-US" sz="1350" dirty="0">
              <a:solidFill>
                <a:schemeClr val="dk1"/>
              </a:solidFill>
              <a:latin typeface="Arial" panose="020B0604020202020204" pitchFamily="34" charset="0"/>
              <a:ea typeface="Montserrat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Char char="•"/>
            </a:pPr>
            <a:r>
              <a:rPr lang="en-US" sz="1950" dirty="0">
                <a:solidFill>
                  <a:schemeClr val="dk1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</a:rPr>
              <a:t>🍽️ </a:t>
            </a:r>
            <a:r>
              <a:rPr lang="en-US" sz="1950" b="1" dirty="0">
                <a:solidFill>
                  <a:schemeClr val="dk1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</a:rPr>
              <a:t>Food-Loving Audience:</a:t>
            </a:r>
            <a:r>
              <a:rPr lang="en-US" sz="1950" dirty="0">
                <a:solidFill>
                  <a:schemeClr val="dk1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</a:rPr>
              <a:t> Mature market, appreciates quality dining</a:t>
            </a:r>
            <a:endParaRPr lang="en-US" sz="1350" dirty="0">
              <a:solidFill>
                <a:schemeClr val="dk1"/>
              </a:solidFill>
              <a:latin typeface="Arial" panose="020B0604020202020204" pitchFamily="34" charset="0"/>
              <a:ea typeface="Montserrat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Char char="•"/>
            </a:pPr>
            <a:r>
              <a:rPr lang="en-US" sz="1950" dirty="0">
                <a:solidFill>
                  <a:schemeClr val="dk1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</a:rPr>
              <a:t>🚀 </a:t>
            </a:r>
            <a:r>
              <a:rPr lang="en-US" sz="1950" b="1" dirty="0">
                <a:solidFill>
                  <a:schemeClr val="dk1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</a:rPr>
              <a:t>Growth Potential:</a:t>
            </a:r>
            <a:r>
              <a:rPr lang="en-US" sz="1950" dirty="0">
                <a:solidFill>
                  <a:schemeClr val="dk1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</a:rPr>
              <a:t> Premium &amp; unique dining experiences likely to attract customers</a:t>
            </a:r>
            <a:endParaRPr lang="en-US" sz="1350" dirty="0">
              <a:solidFill>
                <a:schemeClr val="dk1"/>
              </a:solidFill>
              <a:latin typeface="Arial" panose="020B0604020202020204" pitchFamily="34" charset="0"/>
              <a:ea typeface="Montserrat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SzPts val="2900"/>
              <a:buChar char="•"/>
            </a:pPr>
            <a:endParaRPr lang="en-US" sz="1950" b="1" dirty="0">
              <a:solidFill>
                <a:schemeClr val="dk1"/>
              </a:solidFill>
              <a:latin typeface="Montserrat"/>
              <a:ea typeface="Montserra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9E9979B-0047-46DA-AD59-7E87AEC739D5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7793833" y="3718322"/>
            <a:ext cx="4507944" cy="2850356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/>
          <p:nvPr/>
        </p:nvSpPr>
        <p:spPr>
          <a:xfrm>
            <a:off x="4737698" y="1302994"/>
            <a:ext cx="3833409" cy="1386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273148"/>
              </a:lnSpc>
              <a:buSzPts val="5400"/>
            </a:pPr>
            <a:r>
              <a:rPr lang="en-US" sz="3300" b="1" dirty="0">
                <a:solidFill>
                  <a:schemeClr val="accent4">
                    <a:lumMod val="75000"/>
                  </a:schemeClr>
                </a:solidFill>
                <a:latin typeface="Arial Black" panose="020B0A04020102020204" pitchFamily="34" charset="0"/>
                <a:sym typeface="Montserrat"/>
              </a:rPr>
              <a:t>Cuisine Analysis</a:t>
            </a:r>
            <a:endParaRPr sz="3300" b="1" dirty="0">
              <a:solidFill>
                <a:schemeClr val="accent4">
                  <a:lumMod val="75000"/>
                </a:schemeClr>
              </a:solidFill>
              <a:latin typeface="Arial Black" panose="020B0A04020102020204" pitchFamily="34" charset="0"/>
              <a:sym typeface="Montserrat"/>
            </a:endParaRPr>
          </a:p>
        </p:txBody>
      </p:sp>
      <p:sp>
        <p:nvSpPr>
          <p:cNvPr id="110" name="Google Shape;110;p20"/>
          <p:cNvSpPr txBox="1"/>
          <p:nvPr/>
        </p:nvSpPr>
        <p:spPr>
          <a:xfrm>
            <a:off x="1157288" y="3211865"/>
            <a:ext cx="5497115" cy="6153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0000"/>
              </a:lnSpc>
              <a:buClr>
                <a:schemeClr val="dk1"/>
              </a:buClr>
              <a:buSzPts val="1100"/>
            </a:pPr>
            <a:r>
              <a:rPr lang="en-US" sz="195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Cuisine Recommendations:</a:t>
            </a:r>
            <a:endParaRPr sz="1950" b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342900" indent="-290513">
              <a:lnSpc>
                <a:spcPct val="115000"/>
              </a:lnSpc>
              <a:spcBef>
                <a:spcPts val="750"/>
              </a:spcBef>
              <a:buClr>
                <a:schemeClr val="dk1"/>
              </a:buClr>
              <a:buSzPts val="2500"/>
              <a:buFont typeface="Montserrat"/>
              <a:buChar char="●"/>
            </a:pPr>
            <a:r>
              <a:rPr lang="en-US" sz="195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These are the highest rated cuisines across all countries.</a:t>
            </a:r>
            <a:endParaRPr sz="195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342900" indent="-285750">
              <a:lnSpc>
                <a:spcPct val="115000"/>
              </a:lnSpc>
              <a:buClr>
                <a:schemeClr val="dk1"/>
              </a:buClr>
              <a:buSzPts val="2400"/>
              <a:buFont typeface="Montserrat"/>
              <a:buChar char="●"/>
            </a:pPr>
            <a:r>
              <a:rPr lang="en-US" sz="195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Cuisines with mostly Restaurant Serve</a:t>
            </a:r>
            <a:endParaRPr sz="195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685800" lvl="1" indent="-285750">
              <a:buClr>
                <a:schemeClr val="dk1"/>
              </a:buClr>
              <a:buSzPts val="2400"/>
              <a:buFont typeface="Montserrat"/>
              <a:buChar char="○"/>
            </a:pPr>
            <a:r>
              <a:rPr lang="en-US" sz="195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North Indian</a:t>
            </a:r>
            <a:endParaRPr sz="1950" dirty="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685800" lvl="1" indent="-285750">
              <a:buClr>
                <a:schemeClr val="dk1"/>
              </a:buClr>
              <a:buSzPts val="2400"/>
              <a:buFont typeface="Montserrat"/>
              <a:buChar char="○"/>
            </a:pPr>
            <a:r>
              <a:rPr lang="en-US" sz="195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North Indian, Chinese</a:t>
            </a:r>
            <a:endParaRPr sz="1950" dirty="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685800" lvl="1" indent="-285750">
              <a:buClr>
                <a:schemeClr val="dk1"/>
              </a:buClr>
              <a:buSzPts val="2400"/>
              <a:buFont typeface="Montserrat"/>
              <a:buChar char="○"/>
            </a:pPr>
            <a:r>
              <a:rPr lang="en-US" sz="195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Chinese</a:t>
            </a:r>
            <a:endParaRPr sz="1950" dirty="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685800" lvl="1" indent="-285750">
              <a:buClr>
                <a:schemeClr val="dk1"/>
              </a:buClr>
              <a:buSzPts val="2400"/>
              <a:buFont typeface="Montserrat"/>
              <a:buChar char="○"/>
            </a:pPr>
            <a:r>
              <a:rPr lang="en-US" sz="195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Fast Food</a:t>
            </a:r>
            <a:endParaRPr sz="1950" dirty="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685800" lvl="1" indent="-285750">
              <a:buClr>
                <a:schemeClr val="dk1"/>
              </a:buClr>
              <a:buSzPts val="2400"/>
              <a:buFont typeface="Montserrat"/>
              <a:buChar char="○"/>
            </a:pPr>
            <a:r>
              <a:rPr lang="en-US" sz="195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North Indian, Mughlai</a:t>
            </a:r>
            <a:endParaRPr sz="1950" dirty="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685800" lvl="1" indent="-285750">
              <a:buClr>
                <a:schemeClr val="dk1"/>
              </a:buClr>
              <a:buSzPts val="2400"/>
              <a:buFont typeface="Montserrat"/>
              <a:buChar char="○"/>
            </a:pPr>
            <a:r>
              <a:rPr lang="en-US" sz="195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Cafe</a:t>
            </a:r>
            <a:endParaRPr sz="1950" dirty="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685800" lvl="1" indent="-285750">
              <a:buClr>
                <a:schemeClr val="dk1"/>
              </a:buClr>
              <a:buSzPts val="2400"/>
              <a:buFont typeface="Montserrat"/>
              <a:buChar char="○"/>
            </a:pPr>
            <a:r>
              <a:rPr lang="en-US" sz="195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Bakery</a:t>
            </a:r>
            <a:endParaRPr sz="1950" dirty="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685800" lvl="1" indent="-285750">
              <a:buClr>
                <a:schemeClr val="dk1"/>
              </a:buClr>
              <a:buSzPts val="2400"/>
              <a:buFont typeface="Montserrat"/>
              <a:buChar char="○"/>
            </a:pPr>
            <a:r>
              <a:rPr lang="en-US" sz="195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North Indian, Mughlai, Chinese</a:t>
            </a:r>
            <a:endParaRPr sz="1950" dirty="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685800" lvl="1" indent="-285750">
              <a:buClr>
                <a:schemeClr val="dk1"/>
              </a:buClr>
              <a:buSzPts val="2400"/>
              <a:buFont typeface="Montserrat"/>
              <a:buChar char="○"/>
            </a:pPr>
            <a:r>
              <a:rPr lang="en-US" sz="195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Bakery, Desserts</a:t>
            </a:r>
            <a:endParaRPr sz="1950" dirty="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685800" lvl="1" indent="-285750">
              <a:buClr>
                <a:schemeClr val="dk1"/>
              </a:buClr>
              <a:buSzPts val="2400"/>
              <a:buFont typeface="Montserrat"/>
              <a:buChar char="○"/>
            </a:pPr>
            <a:r>
              <a:rPr lang="en-US" sz="195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Street Food</a:t>
            </a:r>
            <a:endParaRPr sz="1950" dirty="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685800">
              <a:lnSpc>
                <a:spcPct val="115000"/>
              </a:lnSpc>
            </a:pPr>
            <a:endParaRPr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>
              <a:lnSpc>
                <a:spcPct val="150000"/>
              </a:lnSpc>
              <a:buClr>
                <a:srgbClr val="000000"/>
              </a:buClr>
              <a:buSzPts val="1400"/>
            </a:pPr>
            <a:endParaRPr sz="105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>
              <a:lnSpc>
                <a:spcPct val="150000"/>
              </a:lnSpc>
              <a:buClr>
                <a:schemeClr val="dk1"/>
              </a:buClr>
              <a:buSzPts val="2900"/>
            </a:pPr>
            <a:endParaRPr sz="2175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>
              <a:lnSpc>
                <a:spcPct val="150000"/>
              </a:lnSpc>
              <a:buClr>
                <a:srgbClr val="000000"/>
              </a:buClr>
              <a:buSzPts val="2900"/>
            </a:pPr>
            <a:endParaRPr sz="2175" b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E0574DA9-61EC-42D5-B99F-F14AF42C14D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02907808"/>
              </p:ext>
            </p:extLst>
          </p:nvPr>
        </p:nvGraphicFramePr>
        <p:xfrm>
          <a:off x="7290197" y="3333046"/>
          <a:ext cx="5011341" cy="36209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 txBox="1"/>
          <p:nvPr/>
        </p:nvSpPr>
        <p:spPr>
          <a:xfrm>
            <a:off x="3970914" y="1092742"/>
            <a:ext cx="5765404" cy="1386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273148"/>
              </a:lnSpc>
              <a:buSzPts val="5400"/>
            </a:pPr>
            <a:r>
              <a:rPr lang="en-US" sz="3300" b="1" dirty="0">
                <a:solidFill>
                  <a:schemeClr val="accent4">
                    <a:lumMod val="75000"/>
                  </a:schemeClr>
                </a:solidFill>
                <a:latin typeface="Arial Black" panose="020B0A04020102020204" pitchFamily="34" charset="0"/>
                <a:sym typeface="Montserrat"/>
              </a:rPr>
              <a:t>Table Booking Analysis</a:t>
            </a:r>
            <a:endParaRPr sz="3300" b="1" dirty="0" err="1">
              <a:solidFill>
                <a:schemeClr val="accent4">
                  <a:lumMod val="75000"/>
                </a:schemeClr>
              </a:solidFill>
              <a:latin typeface="Arial Black" panose="020B0A04020102020204" pitchFamily="34" charset="0"/>
              <a:sym typeface="Montserrat"/>
            </a:endParaRPr>
          </a:p>
        </p:txBody>
      </p:sp>
      <p:sp>
        <p:nvSpPr>
          <p:cNvPr id="118" name="Google Shape;118;p21"/>
          <p:cNvSpPr txBox="1"/>
          <p:nvPr/>
        </p:nvSpPr>
        <p:spPr>
          <a:xfrm>
            <a:off x="1515089" y="3226970"/>
            <a:ext cx="4793458" cy="7825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0000"/>
              </a:lnSpc>
              <a:buClr>
                <a:schemeClr val="dk1"/>
              </a:buClr>
              <a:buSzPts val="2900"/>
            </a:pPr>
            <a:r>
              <a:rPr lang="en-US" sz="2175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95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Table Booking:</a:t>
            </a:r>
            <a:endParaRPr sz="195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800" lvl="1" indent="-300038">
              <a:lnSpc>
                <a:spcPct val="115000"/>
              </a:lnSpc>
              <a:buClr>
                <a:schemeClr val="dk1"/>
              </a:buClr>
              <a:buSzPts val="2700"/>
              <a:buFont typeface="Montserrat"/>
              <a:buChar char="•"/>
            </a:pPr>
            <a:r>
              <a:rPr lang="en-US" sz="195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More than half customers prefer convenience</a:t>
            </a:r>
            <a:r>
              <a:rPr lang="en-US" sz="195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  55% table booking </a:t>
            </a:r>
            <a:br>
              <a:rPr lang="en-US" sz="195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95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685800" lvl="1" indent="-300038">
              <a:lnSpc>
                <a:spcPct val="115000"/>
              </a:lnSpc>
              <a:buClr>
                <a:schemeClr val="dk1"/>
              </a:buClr>
              <a:buSzPts val="2700"/>
              <a:buFont typeface="Montserrat"/>
              <a:buChar char="•"/>
            </a:pPr>
            <a:r>
              <a:rPr lang="en-US" sz="195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Big opportunity</a:t>
            </a:r>
            <a:r>
              <a:rPr lang="en-US" sz="195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to target the remaining 45–46% by improving service and offers.</a:t>
            </a:r>
            <a:br>
              <a:rPr lang="en-US" sz="195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95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685800" lvl="1" indent="-300038">
              <a:lnSpc>
                <a:spcPct val="115000"/>
              </a:lnSpc>
              <a:buClr>
                <a:schemeClr val="dk1"/>
              </a:buClr>
              <a:buSzPts val="2700"/>
              <a:buFont typeface="Montserrat"/>
              <a:buChar char="•"/>
            </a:pPr>
            <a:r>
              <a:rPr lang="en-US" sz="195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Providing </a:t>
            </a:r>
            <a:r>
              <a:rPr lang="en-US" sz="195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Table booking </a:t>
            </a:r>
            <a:r>
              <a:rPr lang="en-US" sz="195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can maximize reach and revenue.</a:t>
            </a:r>
            <a:endParaRPr sz="195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685800">
              <a:lnSpc>
                <a:spcPct val="115000"/>
              </a:lnSpc>
            </a:pPr>
            <a:endParaRPr sz="2025" b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>
              <a:lnSpc>
                <a:spcPct val="150000"/>
              </a:lnSpc>
              <a:buClr>
                <a:schemeClr val="dk1"/>
              </a:buClr>
              <a:buSzPts val="2900"/>
            </a:pPr>
            <a:endParaRPr sz="2175" b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>
              <a:lnSpc>
                <a:spcPct val="150000"/>
              </a:lnSpc>
              <a:buClr>
                <a:schemeClr val="dk1"/>
              </a:buClr>
              <a:buSzPts val="2900"/>
            </a:pPr>
            <a:endParaRPr sz="2175" b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>
              <a:lnSpc>
                <a:spcPct val="150000"/>
              </a:lnSpc>
              <a:buClr>
                <a:schemeClr val="dk1"/>
              </a:buClr>
              <a:buSzPts val="2900"/>
            </a:pPr>
            <a:endParaRPr sz="2175" b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>
              <a:lnSpc>
                <a:spcPct val="150000"/>
              </a:lnSpc>
              <a:buClr>
                <a:schemeClr val="dk1"/>
              </a:buClr>
              <a:buSzPts val="2900"/>
            </a:pPr>
            <a:endParaRPr sz="2175" b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>
              <a:lnSpc>
                <a:spcPct val="150000"/>
              </a:lnSpc>
              <a:buClr>
                <a:schemeClr val="dk1"/>
              </a:buClr>
              <a:buSzPts val="2900"/>
            </a:pPr>
            <a:endParaRPr sz="2175" b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>
              <a:lnSpc>
                <a:spcPct val="150000"/>
              </a:lnSpc>
              <a:buClr>
                <a:schemeClr val="dk1"/>
              </a:buClr>
              <a:buSzPts val="2900"/>
            </a:pPr>
            <a:endParaRPr sz="2175" b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>
              <a:lnSpc>
                <a:spcPct val="150000"/>
              </a:lnSpc>
              <a:buClr>
                <a:srgbClr val="000000"/>
              </a:buClr>
              <a:buSzPts val="2900"/>
            </a:pPr>
            <a:endParaRPr sz="2175" b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03346CFF-5669-4E03-A1E5-251099312B1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68508238"/>
              </p:ext>
            </p:extLst>
          </p:nvPr>
        </p:nvGraphicFramePr>
        <p:xfrm>
          <a:off x="7407452" y="3900488"/>
          <a:ext cx="4793459" cy="261461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2"/>
          <p:cNvSpPr txBox="1"/>
          <p:nvPr/>
        </p:nvSpPr>
        <p:spPr>
          <a:xfrm>
            <a:off x="4026297" y="1285134"/>
            <a:ext cx="6469453" cy="1386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273148"/>
              </a:lnSpc>
              <a:buSzPts val="5400"/>
            </a:pPr>
            <a:r>
              <a:rPr lang="en-US" sz="3300" b="1" dirty="0">
                <a:solidFill>
                  <a:schemeClr val="accent4">
                    <a:lumMod val="75000"/>
                  </a:schemeClr>
                </a:solidFill>
                <a:latin typeface="Arial Black" panose="020B0A04020102020204" pitchFamily="34" charset="0"/>
                <a:sym typeface="Montserrat"/>
              </a:rPr>
              <a:t>Online Delivery Analy</a:t>
            </a:r>
            <a:r>
              <a:rPr lang="en-US" sz="3300" b="1" dirty="0">
                <a:solidFill>
                  <a:schemeClr val="accent4">
                    <a:lumMod val="75000"/>
                  </a:schemeClr>
                </a:solidFill>
                <a:latin typeface="Arial Black" panose="020B0A04020102020204" pitchFamily="34" charset="0"/>
              </a:rPr>
              <a:t>sis</a:t>
            </a:r>
          </a:p>
        </p:txBody>
      </p:sp>
      <p:sp>
        <p:nvSpPr>
          <p:cNvPr id="126" name="Google Shape;126;p22"/>
          <p:cNvSpPr txBox="1"/>
          <p:nvPr/>
        </p:nvSpPr>
        <p:spPr>
          <a:xfrm>
            <a:off x="1428749" y="3426901"/>
            <a:ext cx="5669497" cy="7878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0000"/>
              </a:lnSpc>
              <a:buClr>
                <a:schemeClr val="dk1"/>
              </a:buClr>
              <a:buSzPts val="2900"/>
            </a:pPr>
            <a:r>
              <a:rPr lang="en-US" sz="195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Online Delivery </a:t>
            </a:r>
            <a:endParaRPr sz="195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lnSpc>
                <a:spcPct val="150000"/>
              </a:lnSpc>
              <a:buSzPts val="2900"/>
            </a:pPr>
            <a:endParaRPr lang="en-US" sz="1950" b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685800" lvl="1" indent="-300038">
              <a:lnSpc>
                <a:spcPct val="115000"/>
              </a:lnSpc>
              <a:buClr>
                <a:schemeClr val="dk1"/>
              </a:buClr>
              <a:buSzPts val="2700"/>
              <a:buFont typeface="Montserrat"/>
              <a:buChar char="•"/>
            </a:pPr>
            <a:r>
              <a:rPr lang="en-US" sz="195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More than half customers prefer convenience</a:t>
            </a:r>
            <a:r>
              <a:rPr lang="en-US" sz="195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— 54% Online Delivery </a:t>
            </a:r>
            <a:br>
              <a:rPr lang="en-US" sz="195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95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685800" lvl="1" indent="-300038">
              <a:lnSpc>
                <a:spcPct val="115000"/>
              </a:lnSpc>
              <a:buClr>
                <a:schemeClr val="dk1"/>
              </a:buClr>
              <a:buSzPts val="2700"/>
              <a:buFont typeface="Montserrat"/>
              <a:buChar char="•"/>
            </a:pPr>
            <a:r>
              <a:rPr lang="en-US" sz="195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Big opportunity</a:t>
            </a:r>
            <a:r>
              <a:rPr lang="en-US" sz="195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to target the remaining 45–46% by improving service and offers.</a:t>
            </a:r>
            <a:br>
              <a:rPr lang="en-US" sz="195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95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685800" lvl="1" indent="-300038">
              <a:lnSpc>
                <a:spcPct val="115000"/>
              </a:lnSpc>
              <a:buClr>
                <a:schemeClr val="dk1"/>
              </a:buClr>
              <a:buSzPts val="2700"/>
              <a:buFont typeface="Montserrat"/>
              <a:buChar char="•"/>
            </a:pPr>
            <a:r>
              <a:rPr lang="en-US" sz="195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Providing </a:t>
            </a:r>
            <a:r>
              <a:rPr lang="en-US" sz="195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Online Delivery </a:t>
            </a:r>
            <a:r>
              <a:rPr lang="en-US" sz="195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can maximize reach and revenue.</a:t>
            </a:r>
            <a:endParaRPr sz="195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685800">
              <a:lnSpc>
                <a:spcPct val="115000"/>
              </a:lnSpc>
            </a:pPr>
            <a:endParaRPr sz="2025" b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>
              <a:lnSpc>
                <a:spcPct val="150000"/>
              </a:lnSpc>
              <a:buClr>
                <a:schemeClr val="dk1"/>
              </a:buClr>
              <a:buSzPts val="2900"/>
            </a:pPr>
            <a:endParaRPr sz="2175" b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>
              <a:lnSpc>
                <a:spcPct val="150000"/>
              </a:lnSpc>
              <a:buClr>
                <a:schemeClr val="dk1"/>
              </a:buClr>
              <a:buSzPts val="2900"/>
            </a:pPr>
            <a:endParaRPr sz="2175" b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>
              <a:lnSpc>
                <a:spcPct val="150000"/>
              </a:lnSpc>
              <a:buClr>
                <a:schemeClr val="dk1"/>
              </a:buClr>
              <a:buSzPts val="2900"/>
            </a:pPr>
            <a:endParaRPr sz="2175" b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>
              <a:lnSpc>
                <a:spcPct val="150000"/>
              </a:lnSpc>
              <a:buClr>
                <a:schemeClr val="dk1"/>
              </a:buClr>
              <a:buSzPts val="2900"/>
            </a:pPr>
            <a:endParaRPr sz="2175" b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>
              <a:lnSpc>
                <a:spcPct val="150000"/>
              </a:lnSpc>
              <a:buClr>
                <a:schemeClr val="dk1"/>
              </a:buClr>
              <a:buSzPts val="2900"/>
            </a:pPr>
            <a:endParaRPr sz="2175" b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>
              <a:lnSpc>
                <a:spcPct val="150000"/>
              </a:lnSpc>
              <a:buClr>
                <a:schemeClr val="dk1"/>
              </a:buClr>
              <a:buSzPts val="2900"/>
            </a:pPr>
            <a:endParaRPr sz="2175" b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>
              <a:lnSpc>
                <a:spcPct val="150000"/>
              </a:lnSpc>
              <a:buClr>
                <a:srgbClr val="000000"/>
              </a:buClr>
              <a:buSzPts val="2900"/>
            </a:pPr>
            <a:endParaRPr sz="2175" b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E30C907F-F7A1-4C8E-93B9-05023D1EFA5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79882513"/>
              </p:ext>
            </p:extLst>
          </p:nvPr>
        </p:nvGraphicFramePr>
        <p:xfrm>
          <a:off x="7927008" y="3906159"/>
          <a:ext cx="4360243" cy="247468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92">
          <a:extLst>
            <a:ext uri="{FF2B5EF4-FFF2-40B4-BE49-F238E27FC236}">
              <a16:creationId xmlns:a16="http://schemas.microsoft.com/office/drawing/2014/main" id="{E1B96900-68BE-FE01-72AD-4AA488D20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>
            <a:extLst>
              <a:ext uri="{FF2B5EF4-FFF2-40B4-BE49-F238E27FC236}">
                <a16:creationId xmlns:a16="http://schemas.microsoft.com/office/drawing/2014/main" id="{FA983A58-CB63-E579-EB6A-517B80E5D932}"/>
              </a:ext>
            </a:extLst>
          </p:cNvPr>
          <p:cNvSpPr txBox="1"/>
          <p:nvPr/>
        </p:nvSpPr>
        <p:spPr>
          <a:xfrm>
            <a:off x="4940179" y="1412288"/>
            <a:ext cx="4859855" cy="1386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273148"/>
              </a:lnSpc>
              <a:buSzPts val="5400"/>
            </a:pPr>
            <a:r>
              <a:rPr lang="en-US" sz="3300" b="1" dirty="0">
                <a:solidFill>
                  <a:schemeClr val="accent4">
                    <a:lumMod val="75000"/>
                  </a:schemeClr>
                </a:solidFill>
                <a:latin typeface="Arial Black" panose="020B0A04020102020204" pitchFamily="34" charset="0"/>
                <a:sym typeface="Montserrat"/>
              </a:rPr>
              <a:t>Restaurant Analysis</a:t>
            </a:r>
            <a:endParaRPr sz="3300" b="1" dirty="0">
              <a:solidFill>
                <a:schemeClr val="accent4">
                  <a:lumMod val="75000"/>
                </a:schemeClr>
              </a:solidFill>
              <a:latin typeface="Arial Black" panose="020B0A04020102020204" pitchFamily="34" charset="0"/>
              <a:sym typeface="Montserrat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BCB2625-C39D-DF53-0248-776E4C24D5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9366280"/>
              </p:ext>
            </p:extLst>
          </p:nvPr>
        </p:nvGraphicFramePr>
        <p:xfrm>
          <a:off x="1596628" y="4211241"/>
          <a:ext cx="3804047" cy="260389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804047">
                  <a:extLst>
                    <a:ext uri="{9D8B030D-6E8A-4147-A177-3AD203B41FA5}">
                      <a16:colId xmlns:a16="http://schemas.microsoft.com/office/drawing/2014/main" val="2722294098"/>
                    </a:ext>
                  </a:extLst>
                </a:gridCol>
              </a:tblGrid>
              <a:tr h="483581">
                <a:tc>
                  <a:txBody>
                    <a:bodyPr/>
                    <a:lstStyle/>
                    <a:p>
                      <a:pPr marL="342900" indent="-342900">
                        <a:buFont typeface="Arial"/>
                        <a:buChar char="•"/>
                      </a:pPr>
                      <a:r>
                        <a:rPr lang="en-US" sz="2000" b="0" dirty="0">
                          <a:effectLst/>
                          <a:latin typeface="Montserrat"/>
                        </a:rPr>
                        <a:t>Balay Dako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5197047"/>
                  </a:ext>
                </a:extLst>
              </a:tr>
              <a:tr h="818367">
                <a:tc>
                  <a:txBody>
                    <a:bodyPr/>
                    <a:lstStyle/>
                    <a:p>
                      <a:pPr marL="342900" indent="-342900">
                        <a:buFont typeface="Arial"/>
                        <a:buChar char="•"/>
                      </a:pPr>
                      <a:r>
                        <a:rPr lang="en-US" sz="2000" b="0" dirty="0">
                          <a:effectLst/>
                          <a:latin typeface="Montserrat"/>
                        </a:rPr>
                        <a:t>Noah's Barn Coffeenery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9351837"/>
                  </a:ext>
                </a:extLst>
              </a:tr>
              <a:tr h="483581">
                <a:tc>
                  <a:txBody>
                    <a:bodyPr/>
                    <a:lstStyle/>
                    <a:p>
                      <a:pPr marL="342900" indent="-342900">
                        <a:buFont typeface="Arial"/>
                        <a:buChar char="•"/>
                      </a:pPr>
                      <a:r>
                        <a:rPr lang="en-US" sz="2000" b="0" dirty="0">
                          <a:effectLst/>
                          <a:latin typeface="Montserrat"/>
                        </a:rPr>
                        <a:t>Silantro Fill-Mex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1954613"/>
                  </a:ext>
                </a:extLst>
              </a:tr>
              <a:tr h="818367">
                <a:tc>
                  <a:txBody>
                    <a:bodyPr/>
                    <a:lstStyle/>
                    <a:p>
                      <a:pPr marL="0" indent="0">
                        <a:buFont typeface="Arial"/>
                        <a:buNone/>
                      </a:pPr>
                      <a:endParaRPr lang="en-US" sz="2000" b="0" dirty="0">
                        <a:effectLst/>
                        <a:latin typeface="Montserra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2572659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F2D2589B-4AF9-480C-BB37-BA876EF3AB4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327" b="-1"/>
          <a:stretch/>
        </p:blipFill>
        <p:spPr>
          <a:xfrm>
            <a:off x="6741902" y="3558963"/>
            <a:ext cx="5133234" cy="2905308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320980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3"/>
          <p:cNvSpPr txBox="1"/>
          <p:nvPr/>
        </p:nvSpPr>
        <p:spPr>
          <a:xfrm>
            <a:off x="3543863" y="1525744"/>
            <a:ext cx="6343650" cy="954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87727"/>
              </a:lnSpc>
              <a:buClr>
                <a:srgbClr val="000000"/>
              </a:buClr>
              <a:buSzPts val="4400"/>
            </a:pPr>
            <a:r>
              <a:rPr lang="en-US" sz="3300" b="1" dirty="0">
                <a:solidFill>
                  <a:schemeClr val="accent4">
                    <a:lumMod val="75000"/>
                  </a:schemeClr>
                </a:solidFill>
                <a:latin typeface="Arial Black" panose="020B0A04020102020204" pitchFamily="34" charset="0"/>
                <a:sym typeface="Montserrat"/>
              </a:rPr>
              <a:t>Methodology</a:t>
            </a:r>
            <a:endParaRPr sz="3300" b="1" dirty="0">
              <a:solidFill>
                <a:schemeClr val="accent4">
                  <a:lumMod val="75000"/>
                </a:schemeClr>
              </a:solidFill>
              <a:latin typeface="Arial Black" panose="020B0A04020102020204" pitchFamily="34" charset="0"/>
              <a:sym typeface="Montserrat"/>
            </a:endParaRPr>
          </a:p>
        </p:txBody>
      </p:sp>
      <p:sp>
        <p:nvSpPr>
          <p:cNvPr id="134" name="Google Shape;134;p23"/>
          <p:cNvSpPr txBox="1"/>
          <p:nvPr/>
        </p:nvSpPr>
        <p:spPr>
          <a:xfrm>
            <a:off x="1700212" y="3210209"/>
            <a:ext cx="10042387" cy="4501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lvl="1" indent="-342900">
              <a:lnSpc>
                <a:spcPct val="150000"/>
              </a:lnSpc>
              <a:buClr>
                <a:schemeClr val="dk1"/>
              </a:buClr>
              <a:buSzPts val="2900"/>
              <a:buChar char="•"/>
            </a:pPr>
            <a:r>
              <a:rPr lang="en-US" sz="1950" dirty="0">
                <a:solidFill>
                  <a:schemeClr val="dk1"/>
                </a:solidFill>
                <a:latin typeface="Montserrat"/>
                <a:ea typeface="Montserrat"/>
                <a:sym typeface="Montserrat"/>
              </a:rPr>
              <a:t>Performed data analysis, cleaning, preprocessing, and visualization using Microsoft Excel.</a:t>
            </a:r>
            <a:endParaRPr lang="en-US" sz="1350" dirty="0">
              <a:solidFill>
                <a:schemeClr val="dk1"/>
              </a:solidFill>
              <a:latin typeface="Montserrat"/>
            </a:endParaRPr>
          </a:p>
          <a:p>
            <a:pPr marL="342900" lvl="1" indent="-342900">
              <a:lnSpc>
                <a:spcPct val="150000"/>
              </a:lnSpc>
              <a:buClr>
                <a:schemeClr val="dk1"/>
              </a:buClr>
              <a:buSzPts val="2900"/>
              <a:buChar char="•"/>
            </a:pPr>
            <a:r>
              <a:rPr lang="en-US" sz="1950" dirty="0">
                <a:solidFill>
                  <a:schemeClr val="dk1"/>
                </a:solidFill>
                <a:latin typeface="Montserrat"/>
                <a:ea typeface="Montserrat"/>
              </a:rPr>
              <a:t>Utilized </a:t>
            </a:r>
            <a:r>
              <a:rPr lang="en-US" sz="1950" dirty="0">
                <a:solidFill>
                  <a:schemeClr val="dk1"/>
                </a:solidFill>
                <a:latin typeface="Montserrat"/>
                <a:ea typeface="Montserrat"/>
                <a:sym typeface="Montserrat"/>
              </a:rPr>
              <a:t>Excel features including Pivot Tables, Conditional Formatting, Lookup Functions, and Statistical Functions to streamline workflows.</a:t>
            </a:r>
            <a:endParaRPr lang="en-US" sz="1350" dirty="0">
              <a:solidFill>
                <a:schemeClr val="dk1"/>
              </a:solidFill>
              <a:latin typeface="Montserrat"/>
            </a:endParaRPr>
          </a:p>
          <a:p>
            <a:pPr marL="342900" lvl="1" indent="-342900">
              <a:lnSpc>
                <a:spcPct val="150000"/>
              </a:lnSpc>
              <a:buClr>
                <a:schemeClr val="dk1"/>
              </a:buClr>
              <a:buSzPts val="2900"/>
              <a:buChar char="•"/>
            </a:pPr>
            <a:r>
              <a:rPr lang="en-US" sz="1950" dirty="0">
                <a:solidFill>
                  <a:schemeClr val="dk1"/>
                </a:solidFill>
                <a:latin typeface="Montserrat"/>
                <a:ea typeface="Montserrat"/>
              </a:rPr>
              <a:t>Executed </a:t>
            </a:r>
            <a:r>
              <a:rPr lang="en-US" sz="1950" dirty="0">
                <a:solidFill>
                  <a:schemeClr val="dk1"/>
                </a:solidFill>
                <a:latin typeface="Montserrat"/>
                <a:ea typeface="Montserrat"/>
                <a:sym typeface="Montserrat"/>
              </a:rPr>
              <a:t>data cleaning, preprocessing, enrichment, and enhancement to prepare datasets for analysis.</a:t>
            </a:r>
            <a:endParaRPr lang="en-US" sz="1350" dirty="0">
              <a:solidFill>
                <a:schemeClr val="dk1"/>
              </a:solidFill>
              <a:latin typeface="Montserrat"/>
            </a:endParaRPr>
          </a:p>
          <a:p>
            <a:pPr marL="342900" lvl="1" indent="-342900">
              <a:lnSpc>
                <a:spcPct val="150000"/>
              </a:lnSpc>
              <a:buClr>
                <a:schemeClr val="dk1"/>
              </a:buClr>
              <a:buSzPts val="2900"/>
              <a:buChar char="•"/>
            </a:pPr>
            <a:r>
              <a:rPr lang="en-US" sz="1950" dirty="0">
                <a:solidFill>
                  <a:schemeClr val="dk1"/>
                </a:solidFill>
                <a:latin typeface="Montserrat"/>
                <a:ea typeface="Montserrat"/>
              </a:rPr>
              <a:t>Conducted correlation analysis and </a:t>
            </a:r>
            <a:r>
              <a:rPr lang="en-US" sz="1950" dirty="0">
                <a:solidFill>
                  <a:schemeClr val="dk1"/>
                </a:solidFill>
                <a:latin typeface="Montserrat"/>
                <a:ea typeface="Montserrat"/>
                <a:sym typeface="Montserrat"/>
              </a:rPr>
              <a:t>summarized insights using pivot tables.</a:t>
            </a:r>
            <a:endParaRPr lang="en-US" sz="1350" dirty="0">
              <a:solidFill>
                <a:schemeClr val="dk1"/>
              </a:solidFill>
              <a:latin typeface="Montserrat"/>
            </a:endParaRPr>
          </a:p>
          <a:p>
            <a:pPr marL="342900" lvl="1" indent="-342900">
              <a:lnSpc>
                <a:spcPct val="150000"/>
              </a:lnSpc>
              <a:buClr>
                <a:schemeClr val="dk1"/>
              </a:buClr>
              <a:buSzPts val="2900"/>
              <a:buChar char="•"/>
            </a:pPr>
            <a:r>
              <a:rPr lang="en-US" sz="1950" dirty="0">
                <a:solidFill>
                  <a:schemeClr val="dk1"/>
                </a:solidFill>
                <a:latin typeface="Montserrat"/>
                <a:ea typeface="Montserrat"/>
              </a:rPr>
              <a:t>Created visualizations </a:t>
            </a:r>
            <a:r>
              <a:rPr lang="en-US" sz="1950" dirty="0">
                <a:solidFill>
                  <a:schemeClr val="dk1"/>
                </a:solidFill>
                <a:latin typeface="Montserrat"/>
                <a:ea typeface="Montserrat"/>
                <a:sym typeface="Montserrat"/>
              </a:rPr>
              <a:t>with charts and graphs, applying conditional formatting to highlight key trends and strategic insights.</a:t>
            </a:r>
            <a:endParaRPr sz="1350" dirty="0">
              <a:solidFill>
                <a:schemeClr val="dk1"/>
              </a:solidFill>
              <a:latin typeface="Montserrat"/>
            </a:endParaRPr>
          </a:p>
          <a:p>
            <a:pPr marL="577691" lvl="1" indent="-342900">
              <a:lnSpc>
                <a:spcPct val="150000"/>
              </a:lnSpc>
              <a:buClr>
                <a:srgbClr val="000000"/>
              </a:buClr>
              <a:buSzPts val="2900"/>
              <a:buChar char="•"/>
            </a:pPr>
            <a:endParaRPr lang="en-US" sz="1950" dirty="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4"/>
          <p:cNvSpPr txBox="1"/>
          <p:nvPr/>
        </p:nvSpPr>
        <p:spPr>
          <a:xfrm>
            <a:off x="2171699" y="3432334"/>
            <a:ext cx="9553517" cy="4051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950" b="1" dirty="0">
                <a:solidFill>
                  <a:schemeClr val="dk1"/>
                </a:solidFill>
                <a:latin typeface="Montserrat"/>
                <a:ea typeface="Montserrat"/>
                <a:sym typeface="Montserrat"/>
              </a:rPr>
              <a:t>Enrichment and Enhancement:</a:t>
            </a:r>
            <a:endParaRPr lang="en-US" sz="1350" dirty="0">
              <a:solidFill>
                <a:schemeClr val="dk1"/>
              </a:solidFill>
              <a:latin typeface="Montserrat"/>
            </a:endParaRPr>
          </a:p>
          <a:p>
            <a:pPr marL="214313" indent="-214313">
              <a:lnSpc>
                <a:spcPct val="150000"/>
              </a:lnSpc>
              <a:buFont typeface="Arial"/>
              <a:buChar char="•"/>
            </a:pPr>
            <a:r>
              <a:rPr lang="en-US" sz="1950" dirty="0">
                <a:solidFill>
                  <a:schemeClr val="dk1"/>
                </a:solidFill>
                <a:latin typeface="Montserrat"/>
                <a:ea typeface="Montserrat"/>
                <a:sym typeface="Montserrat"/>
              </a:rPr>
              <a:t>Enhanced datasets by adding country information using lookup functions.</a:t>
            </a:r>
            <a:endParaRPr sz="1350" dirty="0">
              <a:solidFill>
                <a:schemeClr val="dk1"/>
              </a:solidFill>
              <a:latin typeface="Montserrat"/>
            </a:endParaRPr>
          </a:p>
          <a:p>
            <a:pPr marL="214313" indent="-214313">
              <a:lnSpc>
                <a:spcPct val="150000"/>
              </a:lnSpc>
              <a:buFont typeface="Arial"/>
              <a:buChar char="•"/>
            </a:pPr>
            <a:r>
              <a:rPr lang="en-US" sz="1950" dirty="0">
                <a:solidFill>
                  <a:schemeClr val="dk1"/>
                </a:solidFill>
                <a:latin typeface="Montserrat"/>
                <a:ea typeface="Montserrat"/>
                <a:sym typeface="Montserrat"/>
              </a:rPr>
              <a:t>Calculated new metrics and performed correlation analysis.</a:t>
            </a:r>
            <a:endParaRPr sz="1350" dirty="0">
              <a:solidFill>
                <a:schemeClr val="dk1"/>
              </a:solidFill>
              <a:latin typeface="Montserrat"/>
            </a:endParaRPr>
          </a:p>
          <a:p>
            <a:pPr>
              <a:lnSpc>
                <a:spcPct val="150000"/>
              </a:lnSpc>
            </a:pPr>
            <a:endParaRPr lang="en-US" sz="1950" dirty="0">
              <a:solidFill>
                <a:schemeClr val="dk1"/>
              </a:solidFill>
              <a:latin typeface="Montserrat"/>
              <a:ea typeface="Montserrat"/>
            </a:endParaRPr>
          </a:p>
          <a:p>
            <a:pPr>
              <a:lnSpc>
                <a:spcPct val="150000"/>
              </a:lnSpc>
            </a:pPr>
            <a:r>
              <a:rPr lang="en-US" sz="1950" b="1" dirty="0">
                <a:solidFill>
                  <a:schemeClr val="dk1"/>
                </a:solidFill>
                <a:latin typeface="Montserrat"/>
                <a:ea typeface="Montserrat"/>
                <a:sym typeface="Montserrat"/>
              </a:rPr>
              <a:t>Data Analysis and Visualization:</a:t>
            </a:r>
            <a:endParaRPr sz="1350" dirty="0">
              <a:solidFill>
                <a:schemeClr val="dk1"/>
              </a:solidFill>
              <a:latin typeface="Montserrat"/>
            </a:endParaRPr>
          </a:p>
          <a:p>
            <a:pPr marL="214313" indent="-214313">
              <a:lnSpc>
                <a:spcPct val="150000"/>
              </a:lnSpc>
              <a:buFont typeface="Arial"/>
              <a:buChar char="•"/>
            </a:pPr>
            <a:r>
              <a:rPr lang="en-US" sz="1950" dirty="0">
                <a:solidFill>
                  <a:schemeClr val="dk1"/>
                </a:solidFill>
                <a:latin typeface="Montserrat"/>
                <a:ea typeface="Montserrat"/>
                <a:sym typeface="Montserrat"/>
              </a:rPr>
              <a:t>Summarized data effectively using pivot tables.</a:t>
            </a:r>
            <a:endParaRPr sz="1350" dirty="0">
              <a:solidFill>
                <a:schemeClr val="dk1"/>
              </a:solidFill>
              <a:latin typeface="Montserrat"/>
            </a:endParaRPr>
          </a:p>
          <a:p>
            <a:pPr marL="214313" indent="-214313">
              <a:lnSpc>
                <a:spcPct val="150000"/>
              </a:lnSpc>
              <a:buFont typeface="Arial"/>
              <a:buChar char="•"/>
            </a:pPr>
            <a:r>
              <a:rPr lang="en-US" sz="1950" dirty="0">
                <a:solidFill>
                  <a:schemeClr val="dk1"/>
                </a:solidFill>
                <a:latin typeface="Montserrat"/>
                <a:ea typeface="Montserrat"/>
                <a:sym typeface="Montserrat"/>
              </a:rPr>
              <a:t>Created visualizations with charts and graphs to identify trends.</a:t>
            </a:r>
            <a:endParaRPr sz="1350" dirty="0">
              <a:solidFill>
                <a:schemeClr val="dk1"/>
              </a:solidFill>
              <a:latin typeface="Montserrat"/>
            </a:endParaRPr>
          </a:p>
          <a:p>
            <a:pPr marL="214313" indent="-214313">
              <a:lnSpc>
                <a:spcPct val="150000"/>
              </a:lnSpc>
              <a:buFont typeface="Arial"/>
              <a:buChar char="•"/>
            </a:pPr>
            <a:r>
              <a:rPr lang="en-US" sz="1950" dirty="0">
                <a:solidFill>
                  <a:schemeClr val="dk1"/>
                </a:solidFill>
                <a:latin typeface="Montserrat"/>
                <a:ea typeface="Montserrat"/>
                <a:sym typeface="Montserrat"/>
              </a:rPr>
              <a:t>Applied conditional formatting to highlight strategic insights.</a:t>
            </a:r>
            <a:endParaRPr sz="1350" dirty="0">
              <a:solidFill>
                <a:schemeClr val="dk1"/>
              </a:solidFill>
              <a:latin typeface="Montserrat"/>
            </a:endParaRPr>
          </a:p>
          <a:p>
            <a:pPr>
              <a:lnSpc>
                <a:spcPct val="150000"/>
              </a:lnSpc>
              <a:buSzPts val="2900"/>
            </a:pPr>
            <a:endParaRPr lang="en-US" sz="1950" b="1" dirty="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5" name="Google Shape;133;p23">
            <a:extLst>
              <a:ext uri="{FF2B5EF4-FFF2-40B4-BE49-F238E27FC236}">
                <a16:creationId xmlns:a16="http://schemas.microsoft.com/office/drawing/2014/main" id="{2E9EAE47-2305-4EEC-AF82-25C3AD70DD2F}"/>
              </a:ext>
            </a:extLst>
          </p:cNvPr>
          <p:cNvSpPr txBox="1"/>
          <p:nvPr/>
        </p:nvSpPr>
        <p:spPr>
          <a:xfrm>
            <a:off x="3686175" y="1641783"/>
            <a:ext cx="6343650" cy="954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87727"/>
              </a:lnSpc>
              <a:buClr>
                <a:srgbClr val="000000"/>
              </a:buClr>
              <a:buSzPts val="4400"/>
            </a:pPr>
            <a:r>
              <a:rPr lang="en-US" sz="3300" b="1" dirty="0">
                <a:solidFill>
                  <a:schemeClr val="accent4">
                    <a:lumMod val="75000"/>
                  </a:schemeClr>
                </a:solidFill>
                <a:latin typeface="Arial Black" panose="020B0A04020102020204" pitchFamily="34" charset="0"/>
                <a:sym typeface="Montserrat"/>
              </a:rPr>
              <a:t>Methodology</a:t>
            </a:r>
            <a:endParaRPr sz="3300" b="1" dirty="0">
              <a:solidFill>
                <a:schemeClr val="accent4">
                  <a:lumMod val="75000"/>
                </a:schemeClr>
              </a:solidFill>
              <a:latin typeface="Arial Black" panose="020B0A04020102020204" pitchFamily="34" charset="0"/>
              <a:sym typeface="Montserra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5"/>
          <p:cNvSpPr txBox="1"/>
          <p:nvPr/>
        </p:nvSpPr>
        <p:spPr>
          <a:xfrm>
            <a:off x="3625856" y="1285875"/>
            <a:ext cx="7603650" cy="1386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273148"/>
              </a:lnSpc>
              <a:buSzPts val="5400"/>
            </a:pPr>
            <a:r>
              <a:rPr lang="en-US" sz="3300" b="1" dirty="0">
                <a:solidFill>
                  <a:schemeClr val="accent4">
                    <a:lumMod val="75000"/>
                  </a:schemeClr>
                </a:solidFill>
                <a:latin typeface="Arial Black" panose="020B0A04020102020204" pitchFamily="34" charset="0"/>
                <a:sym typeface="Montserrat"/>
              </a:rPr>
              <a:t>Strategic</a:t>
            </a:r>
            <a:r>
              <a:rPr lang="en-US" sz="1350" dirty="0">
                <a:solidFill>
                  <a:schemeClr val="accent4">
                    <a:lumMod val="75000"/>
                  </a:schemeClr>
                </a:solidFill>
                <a:latin typeface="Arial Black" panose="020B0A04020102020204" pitchFamily="34" charset="0"/>
                <a:ea typeface="Montserrat"/>
                <a:cs typeface="Montserrat"/>
                <a:sym typeface="Montserrat"/>
              </a:rPr>
              <a:t> </a:t>
            </a:r>
            <a:r>
              <a:rPr lang="en-US" sz="1350" dirty="0">
                <a:solidFill>
                  <a:schemeClr val="accent4">
                    <a:lumMod val="75000"/>
                  </a:schemeClr>
                </a:solidFill>
                <a:latin typeface="Arial Black" panose="020B0A04020102020204" pitchFamily="34" charset="0"/>
                <a:sym typeface="Montserrat"/>
              </a:rPr>
              <a:t>  </a:t>
            </a:r>
            <a:r>
              <a:rPr lang="en-US" sz="3300" b="1" dirty="0">
                <a:solidFill>
                  <a:schemeClr val="accent4">
                    <a:lumMod val="75000"/>
                  </a:schemeClr>
                </a:solidFill>
                <a:latin typeface="Arial Black" panose="020B0A04020102020204" pitchFamily="34" charset="0"/>
                <a:sym typeface="Montserrat"/>
              </a:rPr>
              <a:t>Recommendations</a:t>
            </a:r>
            <a:endParaRPr sz="3300" b="1" dirty="0">
              <a:solidFill>
                <a:schemeClr val="accent4">
                  <a:lumMod val="75000"/>
                </a:schemeClr>
              </a:solidFill>
              <a:latin typeface="Arial Black" panose="020B0A04020102020204" pitchFamily="34" charset="0"/>
              <a:sym typeface="Montserrat"/>
            </a:endParaRPr>
          </a:p>
        </p:txBody>
      </p:sp>
      <p:sp>
        <p:nvSpPr>
          <p:cNvPr id="148" name="Google Shape;148;p25"/>
          <p:cNvSpPr txBox="1"/>
          <p:nvPr/>
        </p:nvSpPr>
        <p:spPr>
          <a:xfrm>
            <a:off x="1471613" y="3216419"/>
            <a:ext cx="10758488" cy="57131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indent="-300038">
              <a:buClr>
                <a:schemeClr val="dk1"/>
              </a:buClr>
              <a:buSzPts val="2700"/>
              <a:buFont typeface="Montserrat"/>
              <a:buChar char="●"/>
            </a:pPr>
            <a:r>
              <a:rPr lang="en-US" sz="195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Expansion: Open new restaurants in Indonesia, Philippines, New Zealand, Qatar; focus on cities with low-moderate competition (e.g., Bandung, Quezon City, Tagaytay City).</a:t>
            </a:r>
            <a:br>
              <a:rPr lang="en-US" sz="195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95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342900" indent="-300038">
              <a:buClr>
                <a:schemeClr val="dk1"/>
              </a:buClr>
              <a:buSzPts val="2700"/>
              <a:buFont typeface="Montserrat"/>
              <a:buChar char="●"/>
            </a:pPr>
            <a:r>
              <a:rPr lang="en-US" sz="195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Service: Implement online delivery and table booking for better customer experience.</a:t>
            </a:r>
            <a:br>
              <a:rPr lang="en-US" sz="195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95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342900" indent="-300038">
              <a:buClr>
                <a:schemeClr val="dk1"/>
              </a:buClr>
              <a:buSzPts val="2700"/>
              <a:buFont typeface="Montserrat"/>
              <a:buChar char="●"/>
            </a:pPr>
            <a:r>
              <a:rPr lang="en-US" sz="195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Cuisine Strategy: Focus on highly-rated cuisines and maintain quality, presentation, and service.</a:t>
            </a:r>
            <a:br>
              <a:rPr lang="en-US" sz="195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95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342900" indent="-300038">
              <a:buClr>
                <a:schemeClr val="dk1"/>
              </a:buClr>
              <a:buSzPts val="2700"/>
              <a:buFont typeface="Montserrat"/>
              <a:buChar char="●"/>
            </a:pPr>
            <a:r>
              <a:rPr lang="en-US" sz="195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Pricing: Affordable/mid-range in Indonesia &amp; Philippines; premium pricing in New Zealand &amp; Qatar.</a:t>
            </a:r>
            <a:br>
              <a:rPr lang="en-US" sz="195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95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342900" indent="-300038">
              <a:buClr>
                <a:schemeClr val="dk1"/>
              </a:buClr>
              <a:buSzPts val="2700"/>
              <a:buFont typeface="Montserrat"/>
              <a:buChar char="●"/>
            </a:pPr>
            <a:r>
              <a:rPr lang="en-US" sz="195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Differentiation: Offer unique menu items, superior service, and convenience features.</a:t>
            </a:r>
            <a:br>
              <a:rPr lang="en-US" sz="195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95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342900" indent="-300038">
              <a:buClr>
                <a:schemeClr val="dk1"/>
              </a:buClr>
              <a:buSzPts val="2700"/>
              <a:buFont typeface="Montserrat"/>
              <a:buChar char="●"/>
            </a:pPr>
            <a:r>
              <a:rPr lang="en-US" sz="195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Monitoring: Continuously track competitor ratings, cuisine trends, and customer feedback using pivot tables and dashboards.</a:t>
            </a:r>
            <a:endParaRPr sz="195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342900"/>
            <a:endParaRPr sz="2025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6"/>
          <p:cNvSpPr txBox="1"/>
          <p:nvPr/>
        </p:nvSpPr>
        <p:spPr>
          <a:xfrm>
            <a:off x="5172368" y="1511020"/>
            <a:ext cx="3772661" cy="12695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250000"/>
              </a:lnSpc>
              <a:buClr>
                <a:srgbClr val="000000"/>
              </a:buClr>
              <a:buSzPts val="5900"/>
            </a:pPr>
            <a:r>
              <a:rPr lang="en-US" sz="3300" b="1" dirty="0">
                <a:solidFill>
                  <a:schemeClr val="accent4">
                    <a:lumMod val="75000"/>
                  </a:schemeClr>
                </a:solidFill>
                <a:latin typeface="Arial Black" panose="020B0A04020102020204" pitchFamily="34" charset="0"/>
              </a:rPr>
              <a:t>Conclusion</a:t>
            </a:r>
            <a:endParaRPr sz="3300" b="1" dirty="0">
              <a:solidFill>
                <a:schemeClr val="accent4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155" name="Google Shape;155;p26"/>
          <p:cNvSpPr txBox="1"/>
          <p:nvPr/>
        </p:nvSpPr>
        <p:spPr>
          <a:xfrm>
            <a:off x="2057400" y="3385636"/>
            <a:ext cx="9432884" cy="43511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indent="-300038">
              <a:buClr>
                <a:schemeClr val="dk1"/>
              </a:buClr>
              <a:buSzPts val="2700"/>
              <a:buChar char="●"/>
            </a:pPr>
            <a:r>
              <a:rPr lang="en-US" sz="195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Majority of restaurants are </a:t>
            </a:r>
            <a:r>
              <a:rPr lang="en-US" sz="195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budget-friendly</a:t>
            </a:r>
            <a:r>
              <a:rPr lang="en-US" sz="195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with premium options being limited.</a:t>
            </a:r>
            <a:br>
              <a:rPr lang="en-US" sz="195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95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342900" indent="-300038">
              <a:buClr>
                <a:schemeClr val="dk1"/>
              </a:buClr>
              <a:buSzPts val="2700"/>
              <a:buChar char="●"/>
            </a:pPr>
            <a:r>
              <a:rPr lang="en-US" sz="195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Average ratings are </a:t>
            </a:r>
            <a:r>
              <a:rPr lang="en-US" sz="195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high (&gt;4)</a:t>
            </a:r>
            <a:r>
              <a:rPr lang="en-US" sz="195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across suggested countries, reflecting strong customer satisfaction.</a:t>
            </a:r>
            <a:br>
              <a:rPr lang="en-US" sz="195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95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342900" indent="-300038">
              <a:buClr>
                <a:schemeClr val="dk1"/>
              </a:buClr>
              <a:buSzPts val="2700"/>
              <a:buChar char="●"/>
            </a:pPr>
            <a:r>
              <a:rPr lang="en-US" sz="195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Countries like </a:t>
            </a:r>
            <a:r>
              <a:rPr lang="en-US" sz="195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Indonesia, Philippines, New Zealand, Qatar</a:t>
            </a:r>
            <a:r>
              <a:rPr lang="en-US" sz="195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show </a:t>
            </a:r>
            <a:r>
              <a:rPr lang="en-US" sz="195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moderate competition and good market potential</a:t>
            </a:r>
            <a:r>
              <a:rPr lang="en-US" sz="195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br>
              <a:rPr lang="en-US" sz="195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95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342900" indent="-300038">
              <a:buClr>
                <a:schemeClr val="dk1"/>
              </a:buClr>
              <a:buSzPts val="2700"/>
              <a:buChar char="●"/>
            </a:pPr>
            <a:r>
              <a:rPr lang="en-US" sz="195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Offering </a:t>
            </a:r>
            <a:r>
              <a:rPr lang="en-US" sz="195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online delivery and table booking</a:t>
            </a:r>
            <a:r>
              <a:rPr lang="en-US" sz="195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positively impacts ratings.</a:t>
            </a:r>
            <a:br>
              <a:rPr lang="en-US" sz="195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95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342900" indent="-300038">
              <a:buClr>
                <a:schemeClr val="dk1"/>
              </a:buClr>
              <a:buSzPts val="2700"/>
              <a:buChar char="●"/>
            </a:pPr>
            <a:r>
              <a:rPr lang="en-US" sz="195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Cuisine choice has </a:t>
            </a:r>
            <a:r>
              <a:rPr lang="en-US" sz="195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weak correlation with price</a:t>
            </a:r>
            <a:r>
              <a:rPr lang="en-US" sz="195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but quality drives customer satisfaction.</a:t>
            </a:r>
            <a:endParaRPr sz="195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>
              <a:lnSpc>
                <a:spcPct val="150000"/>
              </a:lnSpc>
              <a:buClr>
                <a:srgbClr val="000000"/>
              </a:buClr>
              <a:buSzPts val="2900"/>
            </a:pPr>
            <a:endParaRPr sz="195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61;p27"/>
          <p:cNvSpPr txBox="1"/>
          <p:nvPr/>
        </p:nvSpPr>
        <p:spPr>
          <a:xfrm>
            <a:off x="1680852" y="600075"/>
            <a:ext cx="9959625" cy="12695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250000"/>
              </a:lnSpc>
              <a:buClr>
                <a:srgbClr val="000000"/>
              </a:buClr>
              <a:buSzPts val="5900"/>
            </a:pPr>
            <a:r>
              <a:rPr lang="en-US" sz="3300" b="1" dirty="0">
                <a:solidFill>
                  <a:schemeClr val="accent4">
                    <a:lumMod val="75000"/>
                  </a:schemeClr>
                </a:solidFill>
                <a:latin typeface="Arial Black" panose="020B0A04020102020204" pitchFamily="34" charset="0"/>
                <a:sym typeface="Montserrat"/>
              </a:rPr>
              <a:t>DASHBOARD</a:t>
            </a:r>
            <a:r>
              <a:rPr lang="en-US" sz="1050" dirty="0">
                <a:solidFill>
                  <a:schemeClr val="accent4">
                    <a:lumMod val="75000"/>
                  </a:schemeClr>
                </a:solidFill>
                <a:latin typeface="Arial Black" panose="020B0A04020102020204" pitchFamily="34" charset="0"/>
                <a:ea typeface="Montserrat"/>
                <a:cs typeface="Montserrat"/>
                <a:sym typeface="Montserrat"/>
              </a:rPr>
              <a:t> </a:t>
            </a:r>
            <a:endParaRPr sz="1050" dirty="0">
              <a:solidFill>
                <a:schemeClr val="accent4">
                  <a:lumMod val="75000"/>
                </a:schemeClr>
              </a:solidFill>
              <a:latin typeface="Arial Black" panose="020B0A04020102020204" pitchFamily="34" charset="0"/>
              <a:ea typeface="Montserrat"/>
              <a:cs typeface="Montserrat"/>
              <a:sym typeface="Montserra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81BC53-4336-47D4-B428-26B3454E14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2591" y="2085975"/>
            <a:ext cx="11390818" cy="7243763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BD681AA-1768-479C-AA96-E28CB40EB8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3107532" y="1907381"/>
            <a:ext cx="7372350" cy="5936456"/>
          </a:xfrm>
          <a:prstGeom prst="rect">
            <a:avLst/>
          </a:prstGeom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142</TotalTime>
  <Words>1132</Words>
  <Application>Microsoft Office PowerPoint</Application>
  <PresentationFormat>Custom</PresentationFormat>
  <Paragraphs>168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9" baseType="lpstr">
      <vt:lpstr>Montserrat Black</vt:lpstr>
      <vt:lpstr>Rockwell Extra Bold</vt:lpstr>
      <vt:lpstr>Arial Black</vt:lpstr>
      <vt:lpstr>Arial</vt:lpstr>
      <vt:lpstr>Algerian</vt:lpstr>
      <vt:lpstr>Wingdings</vt:lpstr>
      <vt:lpstr>Montserrat</vt:lpstr>
      <vt:lpstr>Garamond</vt:lpstr>
      <vt:lpstr>Organic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Garisha's System</dc:creator>
  <cp:lastModifiedBy>ANSH JAIN</cp:lastModifiedBy>
  <cp:revision>546</cp:revision>
  <dcterms:modified xsi:type="dcterms:W3CDTF">2026-01-12T07:21:15Z</dcterms:modified>
</cp:coreProperties>
</file>